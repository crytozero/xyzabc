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c.gov/files/rules/sro/nasdaq/2026/34-105047.pdf" TargetMode="External"/><Relationship Id="rId3" Type="http://schemas.openxmlformats.org/officeDocument/2006/relationships/hyperlink" Target="https://www.forbes.com/sites/digital-assets/2026/04/29/worlds-largest-stock-transfer-agent-is-moving-into-tokenization-through-partnership-with-securitize/" TargetMode="External"/><Relationship Id="rId7" Type="http://schemas.openxmlformats.org/officeDocument/2006/relationships/hyperlink" Target="https://www.broadridge.com/press-release/2026/ondo-finance-launches-first-ever-custodial-tokenized-securities-in-the-us" TargetMode="External"/><Relationship Id="rId12" Type="http://schemas.openxmlformats.org/officeDocument/2006/relationships/hyperlink" Target="https://robinhood.com/us/en/newsroom/robinhood-launches-stock-tokens-reveals-layer-2-blockchain-and-expands-crypto-suite-in-eu-and-us-with-perpetual-futures-and-staking/" TargetMode="External"/><Relationship Id="rId2" Type="http://schemas.openxmlformats.org/officeDocument/2006/relationships/hyperlink" Target="https://www.ledgerinsights.com/securitize-to-be-first-digital-transfer-agent-for-nyse-tokenized-securities-platfor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heblock.co/news/regulation/2026-08-19-injective-becomes-sec-registered-transfer-agent-expands-tokenization-push-412225" TargetMode="External"/><Relationship Id="rId11" Type="http://schemas.openxmlformats.org/officeDocument/2006/relationships/hyperlink" Target="https://www.coindesk.com/business/2026/08/24/coinbase-debuts-tokenized-stocks-on-base-network-joining-race-to-bring-equities-on-blockchain" TargetMode="External"/><Relationship Id="rId5" Type="http://schemas.openxmlformats.org/officeDocument/2006/relationships/hyperlink" Target="https://www.globenewswire.com/news-release/2026/08/04/3338495/0/en/dinari-inc-opens-platform-licenses-to-u-s-financial-institutions.html" TargetMode="External"/><Relationship Id="rId10" Type="http://schemas.openxmlformats.org/officeDocument/2006/relationships/hyperlink" Target="https://blog.kraken.com/news/backed-acquisition" TargetMode="External"/><Relationship Id="rId4" Type="http://schemas.openxmlformats.org/officeDocument/2006/relationships/hyperlink" Target="https://docs.superstate.com/issuers/opening-bell" TargetMode="External"/><Relationship Id="rId9" Type="http://schemas.openxmlformats.org/officeDocument/2006/relationships/hyperlink" Target="https://www.sec.gov/files/rules/sro/nyse/2026/34-105260.pdf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xture.capital/digital-broker-dealer" TargetMode="External"/><Relationship Id="rId13" Type="http://schemas.openxmlformats.org/officeDocument/2006/relationships/hyperlink" Target="https://www.coindesk.com/business/2026/05/12/dtcc-taps-chainlink-for-its-tokenized-collateral-platform-ahead-of-q4-launch" TargetMode="External"/><Relationship Id="rId3" Type="http://schemas.openxmlformats.org/officeDocument/2006/relationships/hyperlink" Target="https://www.coindesk.com/business/2025/06/27/gemini-rolls-out-tokenized-stocks-in-eu-starting-with-strategy-shares" TargetMode="External"/><Relationship Id="rId7" Type="http://schemas.openxmlformats.org/officeDocument/2006/relationships/hyperlink" Target="https://www.coindesk.com/business/2026/07/08/dinari-tzero-join-forces-on-turnkey-platform-for-tokenized-u-s-equities" TargetMode="External"/><Relationship Id="rId12" Type="http://schemas.openxmlformats.org/officeDocument/2006/relationships/hyperlink" Target="https://www.coindesk.com/business/2026/05/04/wall-street-giant-dtcc-plans-tokenized-securities-platform-with-july-pilot-october-launch" TargetMode="External"/><Relationship Id="rId2" Type="http://schemas.openxmlformats.org/officeDocument/2006/relationships/hyperlink" Target="https://tools.prnewswire.com/en-us/live/20823/release/20250630EN2106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edgerinsights.com/securitize-to-be-first-digital-transfer-agent-for-nyse-tokenized-securities-platform/" TargetMode="External"/><Relationship Id="rId11" Type="http://schemas.openxmlformats.org/officeDocument/2006/relationships/hyperlink" Target="https://genfinity.io/2026/08/25/coinbase-tokenized-stocks-live-on-base/" TargetMode="External"/><Relationship Id="rId5" Type="http://schemas.openxmlformats.org/officeDocument/2006/relationships/hyperlink" Target="https://www.coindesk.com/business/2026/08/04/dinari-brings-tokenized-u-s-stocks-to-american-investors-as-equity-race-heats-up" TargetMode="External"/><Relationship Id="rId10" Type="http://schemas.openxmlformats.org/officeDocument/2006/relationships/hyperlink" Target="https://www.coindesk.com/business/2026/07/01/ondo-finance-debuts-sec-aligned-tokenized-stock-model-with-blackrock-etf-micron-shares" TargetMode="External"/><Relationship Id="rId4" Type="http://schemas.openxmlformats.org/officeDocument/2006/relationships/hyperlink" Target="https://www.coindesk.com/business/2025/10/15/backpack-expands-to-sec-registered-tokenized-stocks-with-superstate-partnership" TargetMode="External"/><Relationship Id="rId9" Type="http://schemas.openxmlformats.org/officeDocument/2006/relationships/hyperlink" Target="https://www.tzero.com/news/tzero-and-north-capital-move-to-unite-tokenized-securities-ecosystem-in-the-u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ny.com/corporate/global/en/about-us/newsroom/press-release/bny-mellon-launches-new-digital-asset-custody-platform-130305.html" TargetMode="External"/><Relationship Id="rId3" Type="http://schemas.openxmlformats.org/officeDocument/2006/relationships/hyperlink" Target="https://decrypt.co/366646/dtcc-reveals-launch-tokenization-service-wall-street-giants-onboard" TargetMode="External"/><Relationship Id="rId7" Type="http://schemas.openxmlformats.org/officeDocument/2006/relationships/hyperlink" Target="https://www.coindesk.com/business/2026/08/24/coinbase-debuts-tokenized-stocks-on-base-network-joining-race-to-bring-equities-on-blockchain" TargetMode="External"/><Relationship Id="rId2" Type="http://schemas.openxmlformats.org/officeDocument/2006/relationships/hyperlink" Target="https://cryptobriefing.com/dinari-circle-tokenized-stocks-us-investor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obinhood.com/us/en/newsroom/robinhood-chain-launches-public-testnet/" TargetMode="External"/><Relationship Id="rId5" Type="http://schemas.openxmlformats.org/officeDocument/2006/relationships/hyperlink" Target="https://www.coindesk.com/business/2026/07/01/ondo-finance-debuts-sec-aligned-tokenized-stock-model-with-blackrock-etf-micron-shares" TargetMode="External"/><Relationship Id="rId10" Type="http://schemas.openxmlformats.org/officeDocument/2006/relationships/hyperlink" Target="https://www.bny.com/corporate/global/en/about-us/newsroom/press-release/bny-launches-global-digital-transfer-agency-capabilities-extending-leadership-in-fund-servicing-to-digital-market.html" TargetMode="External"/><Relationship Id="rId4" Type="http://schemas.openxmlformats.org/officeDocument/2006/relationships/hyperlink" Target="https://www.theblock.co/post/362284/solana-based-decentralized-lending-protocol-kamino-integrates-tokenized-xstocks-as-collateral-option" TargetMode="External"/><Relationship Id="rId9" Type="http://schemas.openxmlformats.org/officeDocument/2006/relationships/hyperlink" Target="https://eco.com/support/en/articles/15254027-tokenized-rwa-custody-2026-anchorage-bitgo-fireblocks-for-institution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oinfomania.com/aave-launches-support-for-coinbase-tokenized-stocks-on-base/" TargetMode="External"/><Relationship Id="rId3" Type="http://schemas.openxmlformats.org/officeDocument/2006/relationships/hyperlink" Target="https://genfinity.io/2026/08/25/coinbase-tokenized-stocks-live-on-base/" TargetMode="External"/><Relationship Id="rId7" Type="http://schemas.openxmlformats.org/officeDocument/2006/relationships/hyperlink" Target="https://morpho.org/stories/ondo/" TargetMode="External"/><Relationship Id="rId2" Type="http://schemas.openxmlformats.org/officeDocument/2006/relationships/hyperlink" Target="https://wublockchain.medium.com/backed-xstocks-explained-on-chain-experiments-and-breakthrough-paths-in-tokenized-equities-152b516d47e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ools.prnewswire.com/en-us/live/20823/release/20250630EN21069" TargetMode="External"/><Relationship Id="rId5" Type="http://schemas.openxmlformats.org/officeDocument/2006/relationships/hyperlink" Target="https://eco.com/support/en/articles/15083156-tokenized-stocks-explained" TargetMode="External"/><Relationship Id="rId4" Type="http://schemas.openxmlformats.org/officeDocument/2006/relationships/hyperlink" Target="https://thedefiant.io/news/defi/kamino-becomes-first-major-defi-lender-to-accept-tokenized-stocks-as-collateral" TargetMode="External"/><Relationship Id="rId9" Type="http://schemas.openxmlformats.org/officeDocument/2006/relationships/hyperlink" Target="https://ondo.finance/ondo-sto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4E79"/>
                </a:solidFill>
                <a:latin typeface="Arial"/>
              </a:rPr>
              <a:t>MARKET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10192B"/>
                </a:solidFill>
                <a:latin typeface="Arial"/>
              </a:rPr>
              <a:t>Who is building tokenized equities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675887"/>
            <a:ext cx="1371600" cy="32004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95020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A677A"/>
                </a:solidFill>
                <a:latin typeface="Arial"/>
              </a:rPr>
              <a:t>The full stack, layer by layer: transfer agents, exchanges, broker-dealers,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A677A"/>
                </a:solidFill>
                <a:latin typeface="Arial"/>
              </a:rPr>
              <a:t>settlement, custody and DeFi, with every name verified against a public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5A5"/>
                </a:solidFill>
                <a:latin typeface="Arial"/>
              </a:rPr>
              <a:t>Positions reflect publicly announced activity in tokenized equities and ETFs as of 10 September 2026.  Sources are listed for every entry in the appendix.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0192B"/>
                </a:solidFill>
                <a:latin typeface="Arial"/>
              </a:rPr>
              <a:t>The tokenized equities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77A"/>
                </a:solidFill>
                <a:latin typeface="Arial"/>
              </a:rPr>
              <a:t>Firms with live products, regulatory registrations or announced launches in tokenized equities and ETFs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108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900" b="1" i="0">
                <a:solidFill>
                  <a:srgbClr val="8A95A5"/>
                </a:solidFill>
                <a:latin typeface="Arial"/>
              </a:rPr>
              <a:t>AS OF 10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42415"/>
            <a:ext cx="366156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42415"/>
            <a:ext cx="3661562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75004"/>
            <a:ext cx="28843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E79"/>
                </a:solidFill>
                <a:latin typeface="Arial"/>
              </a:rPr>
              <a:t>TRANSFER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8954" y="1175004"/>
            <a:ext cx="539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050" b="1" i="0">
                <a:solidFill>
                  <a:srgbClr val="8A95A5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408176"/>
            <a:ext cx="34238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A677A"/>
                </a:solidFill>
                <a:latin typeface="Arial"/>
              </a:rPr>
              <a:t>Own the official share register; mint and burn the token</a:t>
            </a:r>
          </a:p>
        </p:txBody>
      </p:sp>
      <p:sp>
        <p:nvSpPr>
          <p:cNvPr id="11" name="tile_Securitize"/>
          <p:cNvSpPr/>
          <p:nvPr/>
        </p:nvSpPr>
        <p:spPr>
          <a:xfrm>
            <a:off x="466344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logo_Securitize" descr="securitize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54" y="1691639"/>
            <a:ext cx="34747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Securitize</a:t>
            </a:r>
          </a:p>
        </p:txBody>
      </p:sp>
      <p:sp>
        <p:nvSpPr>
          <p:cNvPr id="14" name="tile_Computershare"/>
          <p:cNvSpPr/>
          <p:nvPr/>
        </p:nvSpPr>
        <p:spPr>
          <a:xfrm>
            <a:off x="1347444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logo_Computershare" descr="computershare_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254" y="1691639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4020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Computershare</a:t>
            </a:r>
          </a:p>
        </p:txBody>
      </p:sp>
      <p:sp>
        <p:nvSpPr>
          <p:cNvPr id="17" name="tile_Superstate"/>
          <p:cNvSpPr/>
          <p:nvPr/>
        </p:nvSpPr>
        <p:spPr>
          <a:xfrm>
            <a:off x="2228545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logo_Superstate" descr="superstate_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355" y="1691639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65121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Superstate</a:t>
            </a:r>
          </a:p>
        </p:txBody>
      </p:sp>
      <p:sp>
        <p:nvSpPr>
          <p:cNvPr id="20" name="tile_Dinari"/>
          <p:cNvSpPr/>
          <p:nvPr/>
        </p:nvSpPr>
        <p:spPr>
          <a:xfrm>
            <a:off x="3109645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logo_Dinari" descr="dinari_c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456" y="1691639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46221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Dinari</a:t>
            </a:r>
          </a:p>
        </p:txBody>
      </p:sp>
      <p:sp>
        <p:nvSpPr>
          <p:cNvPr id="23" name="tile_Injective"/>
          <p:cNvSpPr/>
          <p:nvPr/>
        </p:nvSpPr>
        <p:spPr>
          <a:xfrm>
            <a:off x="466344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logo_Injective" descr="injective_c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54" y="2679191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Injective</a:t>
            </a:r>
          </a:p>
        </p:txBody>
      </p:sp>
      <p:sp>
        <p:nvSpPr>
          <p:cNvPr id="26" name="tile_Oasis Pro"/>
          <p:cNvSpPr/>
          <p:nvPr/>
        </p:nvSpPr>
        <p:spPr>
          <a:xfrm>
            <a:off x="1347444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logo_Oasis Pro" descr="oasispro_c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2254" y="2679191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4020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Oasis Pro</a:t>
            </a:r>
          </a:p>
        </p:txBody>
      </p:sp>
      <p:sp>
        <p:nvSpPr>
          <p:cNvPr id="29" name="tile_Broadridge"/>
          <p:cNvSpPr/>
          <p:nvPr/>
        </p:nvSpPr>
        <p:spPr>
          <a:xfrm>
            <a:off x="2228545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logo_Broadridge" descr="broadridge_c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3355" y="2679191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65121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Broadridge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5066" y="1042415"/>
            <a:ext cx="366156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65066" y="1042415"/>
            <a:ext cx="3661562" cy="50292"/>
          </a:xfrm>
          <a:prstGeom prst="rect">
            <a:avLst/>
          </a:prstGeom>
          <a:solidFill>
            <a:srgbClr val="1B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3938" y="1175004"/>
            <a:ext cx="28843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B5A"/>
                </a:solidFill>
                <a:latin typeface="Arial"/>
              </a:rPr>
              <a:t>EXCHANGES &amp; TRADING VENUES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8260" y="1175004"/>
            <a:ext cx="539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050" b="1" i="0">
                <a:solidFill>
                  <a:srgbClr val="8A95A5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3938" y="1408176"/>
            <a:ext cx="34238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A677A"/>
                </a:solidFill>
                <a:latin typeface="Arial"/>
              </a:rPr>
              <a:t>Listing and order books where tokenized stock changes hands</a:t>
            </a:r>
          </a:p>
        </p:txBody>
      </p:sp>
      <p:sp>
        <p:nvSpPr>
          <p:cNvPr id="37" name="tile_Nasdaq"/>
          <p:cNvSpPr/>
          <p:nvPr/>
        </p:nvSpPr>
        <p:spPr>
          <a:xfrm>
            <a:off x="4365650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logo_Nasdaq" descr="nasdaq_co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460" y="1691639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02226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Nasdaq</a:t>
            </a:r>
          </a:p>
        </p:txBody>
      </p:sp>
      <p:sp>
        <p:nvSpPr>
          <p:cNvPr id="40" name="tile_NYSE"/>
          <p:cNvSpPr/>
          <p:nvPr/>
        </p:nvSpPr>
        <p:spPr>
          <a:xfrm>
            <a:off x="5246751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logo_NYSE" descr="nyse_c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1561" y="1691639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283327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NYSE</a:t>
            </a:r>
          </a:p>
        </p:txBody>
      </p:sp>
      <p:sp>
        <p:nvSpPr>
          <p:cNvPr id="43" name="tile_Kraken"/>
          <p:cNvSpPr/>
          <p:nvPr/>
        </p:nvSpPr>
        <p:spPr>
          <a:xfrm>
            <a:off x="6127851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logo_Kraken" descr="kraken_co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661" y="1691639"/>
            <a:ext cx="347472" cy="3474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64427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Kraken</a:t>
            </a:r>
          </a:p>
        </p:txBody>
      </p:sp>
      <p:sp>
        <p:nvSpPr>
          <p:cNvPr id="46" name="tile_Coinbase"/>
          <p:cNvSpPr/>
          <p:nvPr/>
        </p:nvSpPr>
        <p:spPr>
          <a:xfrm>
            <a:off x="7008952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7" name="logo_Coinbase" descr="coinbase_co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3762" y="1691639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45528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Coinbase</a:t>
            </a:r>
          </a:p>
        </p:txBody>
      </p:sp>
      <p:sp>
        <p:nvSpPr>
          <p:cNvPr id="49" name="tile_Robinhood"/>
          <p:cNvSpPr/>
          <p:nvPr/>
        </p:nvSpPr>
        <p:spPr>
          <a:xfrm>
            <a:off x="4365650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" name="logo_Robinhood" descr="robinhood_co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0460" y="2679191"/>
            <a:ext cx="347472" cy="3474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402226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Robinhood</a:t>
            </a:r>
          </a:p>
        </p:txBody>
      </p:sp>
      <p:sp>
        <p:nvSpPr>
          <p:cNvPr id="52" name="tile_Bybit"/>
          <p:cNvSpPr/>
          <p:nvPr/>
        </p:nvSpPr>
        <p:spPr>
          <a:xfrm>
            <a:off x="5246751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3" name="logo_Bybit" descr="bybit_co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1561" y="2679191"/>
            <a:ext cx="347472" cy="3474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83327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Bybit</a:t>
            </a:r>
          </a:p>
        </p:txBody>
      </p:sp>
      <p:sp>
        <p:nvSpPr>
          <p:cNvPr id="55" name="tile_Gemini"/>
          <p:cNvSpPr/>
          <p:nvPr/>
        </p:nvSpPr>
        <p:spPr>
          <a:xfrm>
            <a:off x="6127851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6" name="logo_Gemini" descr="gemini_com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661" y="2679191"/>
            <a:ext cx="347472" cy="3474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164427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Gemini</a:t>
            </a:r>
          </a:p>
        </p:txBody>
      </p:sp>
      <p:sp>
        <p:nvSpPr>
          <p:cNvPr id="58" name="tile_Backpack"/>
          <p:cNvSpPr/>
          <p:nvPr/>
        </p:nvSpPr>
        <p:spPr>
          <a:xfrm>
            <a:off x="7008952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9" name="logo_Backpack" descr="backpack_exchan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43762" y="2679191"/>
            <a:ext cx="347472" cy="34747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45528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Backpack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64372" y="1042415"/>
            <a:ext cx="366156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64372" y="1042415"/>
            <a:ext cx="3661562" cy="5029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83244" y="1175004"/>
            <a:ext cx="28843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3E8E"/>
                </a:solidFill>
                <a:latin typeface="Arial"/>
              </a:rPr>
              <a:t>BROKER-DEALERS &amp; ATSs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67567" y="1175004"/>
            <a:ext cx="539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050" b="1" i="0">
                <a:solidFill>
                  <a:srgbClr val="8A95A5"/>
                </a:solidFill>
                <a:latin typeface="Arial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83244" y="1408176"/>
            <a:ext cx="34238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A677A"/>
                </a:solidFill>
                <a:latin typeface="Arial"/>
              </a:rPr>
              <a:t>Regulated intermediation, order routing and secondary venues</a:t>
            </a:r>
          </a:p>
        </p:txBody>
      </p:sp>
      <p:sp>
        <p:nvSpPr>
          <p:cNvPr id="66" name="tile_Dinari Securities"/>
          <p:cNvSpPr/>
          <p:nvPr/>
        </p:nvSpPr>
        <p:spPr>
          <a:xfrm>
            <a:off x="8264956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7" name="logo_Dinari Securities" descr="dinari_c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767" y="1691639"/>
            <a:ext cx="347472" cy="34747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301532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Dinari Securities</a:t>
            </a:r>
          </a:p>
        </p:txBody>
      </p:sp>
      <p:sp>
        <p:nvSpPr>
          <p:cNvPr id="69" name="tile_Securitize Markets"/>
          <p:cNvSpPr/>
          <p:nvPr/>
        </p:nvSpPr>
        <p:spPr>
          <a:xfrm>
            <a:off x="9146057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0" name="logo_Securitize Markets" descr="securitize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867" y="1691639"/>
            <a:ext cx="347472" cy="3474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182633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Securitize Markets</a:t>
            </a:r>
          </a:p>
        </p:txBody>
      </p:sp>
      <p:sp>
        <p:nvSpPr>
          <p:cNvPr id="72" name="tile_tZERO"/>
          <p:cNvSpPr/>
          <p:nvPr/>
        </p:nvSpPr>
        <p:spPr>
          <a:xfrm>
            <a:off x="10027158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3" name="logo_tZERO" descr="tzero_com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61968" y="1691639"/>
            <a:ext cx="347472" cy="34747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063733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tZERO</a:t>
            </a:r>
          </a:p>
        </p:txBody>
      </p:sp>
      <p:sp>
        <p:nvSpPr>
          <p:cNvPr id="75" name="tile_Texture Capital"/>
          <p:cNvSpPr/>
          <p:nvPr/>
        </p:nvSpPr>
        <p:spPr>
          <a:xfrm>
            <a:off x="10908258" y="1591055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6" name="logo_Texture Capital" descr="texture_capita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3068" y="1691639"/>
            <a:ext cx="347472" cy="3474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944834" y="2093976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Texture Capital</a:t>
            </a:r>
          </a:p>
        </p:txBody>
      </p:sp>
      <p:sp>
        <p:nvSpPr>
          <p:cNvPr id="78" name="tile_North Capital"/>
          <p:cNvSpPr/>
          <p:nvPr/>
        </p:nvSpPr>
        <p:spPr>
          <a:xfrm>
            <a:off x="8264956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9" name="logo_North Capital" descr="northcapital_co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99767" y="2679191"/>
            <a:ext cx="347472" cy="34747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301532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North Capital</a:t>
            </a:r>
          </a:p>
        </p:txBody>
      </p:sp>
      <p:sp>
        <p:nvSpPr>
          <p:cNvPr id="81" name="tile_Ondo"/>
          <p:cNvSpPr/>
          <p:nvPr/>
        </p:nvSpPr>
        <p:spPr>
          <a:xfrm>
            <a:off x="9146057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2" name="logo_Ondo" descr="ondo_financ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80867" y="2679191"/>
            <a:ext cx="347472" cy="34747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182633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Ondo</a:t>
            </a:r>
          </a:p>
        </p:txBody>
      </p:sp>
      <p:sp>
        <p:nvSpPr>
          <p:cNvPr id="84" name="tile_Alpaca Securities"/>
          <p:cNvSpPr/>
          <p:nvPr/>
        </p:nvSpPr>
        <p:spPr>
          <a:xfrm>
            <a:off x="10027158" y="257860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5" name="logo_Alpaca Securities" descr="alpaca_market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1968" y="2679191"/>
            <a:ext cx="347472" cy="34747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063733" y="308152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Alpaca Securities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3675888"/>
            <a:ext cx="366156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65760" y="3675888"/>
            <a:ext cx="3661562" cy="50292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84632" y="3808476"/>
            <a:ext cx="28843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6A15"/>
                </a:solidFill>
                <a:latin typeface="Arial"/>
              </a:rPr>
              <a:t>SETTLEMENT &amp; INFRASTRUCTURE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8954" y="3808476"/>
            <a:ext cx="539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050" b="1" i="0">
                <a:solidFill>
                  <a:srgbClr val="8A95A5"/>
                </a:solidFill>
                <a:latin typeface="Arial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" y="4041648"/>
            <a:ext cx="34238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A677A"/>
                </a:solidFill>
                <a:latin typeface="Arial"/>
              </a:rPr>
              <a:t>Depository, chains, oracles and the cash leg</a:t>
            </a:r>
          </a:p>
        </p:txBody>
      </p:sp>
      <p:sp>
        <p:nvSpPr>
          <p:cNvPr id="92" name="tile_DTCC / DTC"/>
          <p:cNvSpPr/>
          <p:nvPr/>
        </p:nvSpPr>
        <p:spPr>
          <a:xfrm>
            <a:off x="466344" y="422452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3" name="logo_DTCC / DTC" descr="dtcc_com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1154" y="4325112"/>
            <a:ext cx="347472" cy="347472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02920" y="472744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DTCC / DTC</a:t>
            </a:r>
          </a:p>
        </p:txBody>
      </p:sp>
      <p:sp>
        <p:nvSpPr>
          <p:cNvPr id="95" name="tile_Chainlink"/>
          <p:cNvSpPr/>
          <p:nvPr/>
        </p:nvSpPr>
        <p:spPr>
          <a:xfrm>
            <a:off x="1347444" y="422452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6" name="logo_Chainlink" descr="chain_lin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82254" y="4325112"/>
            <a:ext cx="347472" cy="347472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384020" y="472744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Chainlink</a:t>
            </a:r>
          </a:p>
        </p:txBody>
      </p:sp>
      <p:sp>
        <p:nvSpPr>
          <p:cNvPr id="98" name="tile_Circle"/>
          <p:cNvSpPr/>
          <p:nvPr/>
        </p:nvSpPr>
        <p:spPr>
          <a:xfrm>
            <a:off x="2228545" y="422452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9" name="logo_Circle" descr="circle_com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63355" y="4325112"/>
            <a:ext cx="347472" cy="347472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2265121" y="472744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Circle</a:t>
            </a:r>
          </a:p>
        </p:txBody>
      </p:sp>
      <p:sp>
        <p:nvSpPr>
          <p:cNvPr id="101" name="tile_Fireblocks"/>
          <p:cNvSpPr/>
          <p:nvPr/>
        </p:nvSpPr>
        <p:spPr>
          <a:xfrm>
            <a:off x="3109645" y="4224528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2" name="logo_Fireblocks" descr="fireblocks_com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44456" y="4325112"/>
            <a:ext cx="347472" cy="347472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146221" y="4727448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Fireblocks</a:t>
            </a:r>
          </a:p>
        </p:txBody>
      </p:sp>
      <p:sp>
        <p:nvSpPr>
          <p:cNvPr id="104" name="tile_Solana"/>
          <p:cNvSpPr/>
          <p:nvPr/>
        </p:nvSpPr>
        <p:spPr>
          <a:xfrm>
            <a:off x="466344" y="5212080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5" name="logo_Solana" descr="solana_com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1154" y="5312664"/>
            <a:ext cx="347472" cy="34747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02920" y="5715000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Solana</a:t>
            </a:r>
          </a:p>
        </p:txBody>
      </p:sp>
      <p:sp>
        <p:nvSpPr>
          <p:cNvPr id="107" name="tile_Ethereum"/>
          <p:cNvSpPr/>
          <p:nvPr/>
        </p:nvSpPr>
        <p:spPr>
          <a:xfrm>
            <a:off x="1347444" y="5212080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8" name="logo_Ethereum" descr="ethereum_org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82254" y="5312664"/>
            <a:ext cx="347472" cy="34747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384020" y="5715000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Ethereum</a:t>
            </a:r>
          </a:p>
        </p:txBody>
      </p:sp>
      <p:sp>
        <p:nvSpPr>
          <p:cNvPr id="110" name="tile_Arbitrum"/>
          <p:cNvSpPr/>
          <p:nvPr/>
        </p:nvSpPr>
        <p:spPr>
          <a:xfrm>
            <a:off x="2228545" y="5212080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1" name="logo_Arbitrum" descr="arbitrum_io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463355" y="5312664"/>
            <a:ext cx="347472" cy="347472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265121" y="5715000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Arbitrum</a:t>
            </a:r>
          </a:p>
        </p:txBody>
      </p:sp>
      <p:sp>
        <p:nvSpPr>
          <p:cNvPr id="113" name="tile_Base"/>
          <p:cNvSpPr/>
          <p:nvPr/>
        </p:nvSpPr>
        <p:spPr>
          <a:xfrm>
            <a:off x="3109645" y="5212080"/>
            <a:ext cx="8170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4" name="logo_Base" descr="base_org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44456" y="5312664"/>
            <a:ext cx="347472" cy="347472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3146221" y="5715000"/>
            <a:ext cx="7439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Base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265066" y="3675888"/>
            <a:ext cx="366156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265066" y="3675888"/>
            <a:ext cx="3661562" cy="50292"/>
          </a:xfrm>
          <a:prstGeom prst="rect">
            <a:avLst/>
          </a:prstGeom>
          <a:solidFill>
            <a:srgbClr val="15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383938" y="3808476"/>
            <a:ext cx="28843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56C8C"/>
                </a:solidFill>
                <a:latin typeface="Arial"/>
              </a:rPr>
              <a:t>CUSTODY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68260" y="3808476"/>
            <a:ext cx="539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050" b="1" i="0">
                <a:solidFill>
                  <a:srgbClr val="8A95A5"/>
                </a:solidFill>
                <a:latin typeface="Arial"/>
              </a:rP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83938" y="4041648"/>
            <a:ext cx="34238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A677A"/>
                </a:solidFill>
                <a:latin typeface="Arial"/>
              </a:rPr>
              <a:t>Hold the underlying shares, and hold the keys</a:t>
            </a:r>
          </a:p>
        </p:txBody>
      </p:sp>
      <p:sp>
        <p:nvSpPr>
          <p:cNvPr id="121" name="tile_Anchorage Digital"/>
          <p:cNvSpPr/>
          <p:nvPr/>
        </p:nvSpPr>
        <p:spPr>
          <a:xfrm>
            <a:off x="4365650" y="4224528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2" name="logo_Anchorage Digital" descr="anchorage_com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12350" y="4325112"/>
            <a:ext cx="347472" cy="347472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4402226" y="4727448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Anchorage Digital</a:t>
            </a:r>
          </a:p>
        </p:txBody>
      </p:sp>
      <p:sp>
        <p:nvSpPr>
          <p:cNvPr id="124" name="tile_BitGo"/>
          <p:cNvSpPr/>
          <p:nvPr/>
        </p:nvSpPr>
        <p:spPr>
          <a:xfrm>
            <a:off x="5070530" y="4224528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5" name="logo_BitGo" descr="bitgo_com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17231" y="4325112"/>
            <a:ext cx="347472" cy="347472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107106" y="4727448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BitGo</a:t>
            </a:r>
          </a:p>
        </p:txBody>
      </p:sp>
      <p:sp>
        <p:nvSpPr>
          <p:cNvPr id="127" name="tile_Coinbase Custody"/>
          <p:cNvSpPr/>
          <p:nvPr/>
        </p:nvSpPr>
        <p:spPr>
          <a:xfrm>
            <a:off x="5775411" y="4224528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8" name="logo_Coinbase Custody" descr="coinbase_co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2111" y="4325112"/>
            <a:ext cx="347472" cy="347472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811987" y="4727448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Coinbase Custody</a:t>
            </a:r>
          </a:p>
        </p:txBody>
      </p:sp>
      <p:sp>
        <p:nvSpPr>
          <p:cNvPr id="130" name="tile_Fireblocks"/>
          <p:cNvSpPr/>
          <p:nvPr/>
        </p:nvSpPr>
        <p:spPr>
          <a:xfrm>
            <a:off x="6480291" y="4224528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1" name="logo_Fireblocks" descr="fireblocks_com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6992" y="4325112"/>
            <a:ext cx="347472" cy="347472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6516867" y="4727448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Fireblocks</a:t>
            </a:r>
          </a:p>
        </p:txBody>
      </p:sp>
      <p:sp>
        <p:nvSpPr>
          <p:cNvPr id="133" name="tile_BNY"/>
          <p:cNvSpPr/>
          <p:nvPr/>
        </p:nvSpPr>
        <p:spPr>
          <a:xfrm>
            <a:off x="7185172" y="4224528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4" name="logo_BNY" descr="bny_com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31872" y="4325112"/>
            <a:ext cx="347472" cy="347472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7221748" y="4727448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BNY</a:t>
            </a:r>
          </a:p>
        </p:txBody>
      </p:sp>
      <p:sp>
        <p:nvSpPr>
          <p:cNvPr id="136" name="tile_State Street"/>
          <p:cNvSpPr/>
          <p:nvPr/>
        </p:nvSpPr>
        <p:spPr>
          <a:xfrm>
            <a:off x="4365650" y="5212080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7" name="logo_State Street" descr="statestreet_com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12350" y="5312664"/>
            <a:ext cx="347472" cy="347472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4402226" y="5715000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State Street</a:t>
            </a:r>
          </a:p>
        </p:txBody>
      </p:sp>
      <p:sp>
        <p:nvSpPr>
          <p:cNvPr id="139" name="tile_InCore Bank"/>
          <p:cNvSpPr/>
          <p:nvPr/>
        </p:nvSpPr>
        <p:spPr>
          <a:xfrm>
            <a:off x="5070530" y="5212080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0" name="logo_InCore Bank" descr="incorebank_ch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17231" y="5312664"/>
            <a:ext cx="347472" cy="347472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107106" y="5715000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InCore Bank</a:t>
            </a:r>
          </a:p>
        </p:txBody>
      </p:sp>
      <p:sp>
        <p:nvSpPr>
          <p:cNvPr id="142" name="tile_Maerki Baumann"/>
          <p:cNvSpPr/>
          <p:nvPr/>
        </p:nvSpPr>
        <p:spPr>
          <a:xfrm>
            <a:off x="5775411" y="5212080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3" name="logo_Maerki Baumann" descr="maerki-baumann_ch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22111" y="5312664"/>
            <a:ext cx="347472" cy="347472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5811987" y="5715000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Maerki Baumann</a:t>
            </a:r>
          </a:p>
        </p:txBody>
      </p:sp>
      <p:sp>
        <p:nvSpPr>
          <p:cNvPr id="145" name="tile_Clearstream"/>
          <p:cNvSpPr/>
          <p:nvPr/>
        </p:nvSpPr>
        <p:spPr>
          <a:xfrm>
            <a:off x="6480291" y="5212080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6" name="logo_Clearstream" descr="clearstream_com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26992" y="5312664"/>
            <a:ext cx="347472" cy="347472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6516867" y="5715000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Clearstream</a:t>
            </a:r>
          </a:p>
        </p:txBody>
      </p:sp>
      <p:sp>
        <p:nvSpPr>
          <p:cNvPr id="148" name="tile_Alpaca Securities"/>
          <p:cNvSpPr/>
          <p:nvPr/>
        </p:nvSpPr>
        <p:spPr>
          <a:xfrm>
            <a:off x="7185172" y="5212080"/>
            <a:ext cx="64087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9" name="logo_Alpaca Securities" descr="alpaca_market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31872" y="5312664"/>
            <a:ext cx="347472" cy="347472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221748" y="5715000"/>
            <a:ext cx="567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630" b="1" i="0">
                <a:solidFill>
                  <a:srgbClr val="10192B"/>
                </a:solidFill>
                <a:latin typeface="Arial"/>
              </a:rPr>
              <a:t>Alpaca Securities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64372" y="3675888"/>
            <a:ext cx="366156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164372" y="3675888"/>
            <a:ext cx="3661562" cy="50292"/>
          </a:xfrm>
          <a:prstGeom prst="rect">
            <a:avLst/>
          </a:prstGeom>
          <a:solidFill>
            <a:srgbClr val="9B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83244" y="3808476"/>
            <a:ext cx="28843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B2D4F"/>
                </a:solidFill>
                <a:latin typeface="Arial"/>
              </a:rPr>
              <a:t>DeFi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167567" y="3808476"/>
            <a:ext cx="539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050" b="1" i="0">
                <a:solidFill>
                  <a:srgbClr val="8A95A5"/>
                </a:solidFill>
                <a:latin typeface="Arial"/>
              </a:rPr>
              <a:t>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3244" y="4041648"/>
            <a:ext cx="34238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A677A"/>
                </a:solidFill>
                <a:latin typeface="Arial"/>
              </a:rPr>
              <a:t>Lending, liquidity and wallets that make the token useful</a:t>
            </a:r>
          </a:p>
        </p:txBody>
      </p:sp>
      <p:sp>
        <p:nvSpPr>
          <p:cNvPr id="156" name="tile_Kamino"/>
          <p:cNvSpPr/>
          <p:nvPr/>
        </p:nvSpPr>
        <p:spPr>
          <a:xfrm>
            <a:off x="8264956" y="4224528"/>
            <a:ext cx="11107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7" name="logo_Kamino" descr="kamino_financ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46617" y="4325112"/>
            <a:ext cx="347472" cy="347472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301532" y="4727448"/>
            <a:ext cx="1037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Kamino</a:t>
            </a:r>
          </a:p>
        </p:txBody>
      </p:sp>
      <p:sp>
        <p:nvSpPr>
          <p:cNvPr id="159" name="tile_Jupiter"/>
          <p:cNvSpPr/>
          <p:nvPr/>
        </p:nvSpPr>
        <p:spPr>
          <a:xfrm>
            <a:off x="9439757" y="4224528"/>
            <a:ext cx="11107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0" name="logo_Jupiter" descr="jup_ag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821418" y="4325112"/>
            <a:ext cx="347472" cy="347472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9476333" y="4727448"/>
            <a:ext cx="1037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Jupiter</a:t>
            </a:r>
          </a:p>
        </p:txBody>
      </p:sp>
      <p:sp>
        <p:nvSpPr>
          <p:cNvPr id="162" name="tile_Raydium"/>
          <p:cNvSpPr/>
          <p:nvPr/>
        </p:nvSpPr>
        <p:spPr>
          <a:xfrm>
            <a:off x="10614558" y="4224528"/>
            <a:ext cx="11107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3" name="logo_Raydium" descr="raydium_io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996218" y="4325112"/>
            <a:ext cx="347472" cy="347472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0651134" y="4727448"/>
            <a:ext cx="1037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Raydium</a:t>
            </a:r>
          </a:p>
        </p:txBody>
      </p:sp>
      <p:sp>
        <p:nvSpPr>
          <p:cNvPr id="165" name="tile_Morpho"/>
          <p:cNvSpPr/>
          <p:nvPr/>
        </p:nvSpPr>
        <p:spPr>
          <a:xfrm>
            <a:off x="8264956" y="5212080"/>
            <a:ext cx="11107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6" name="logo_Morpho" descr="morpho_org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646617" y="5312664"/>
            <a:ext cx="347472" cy="347472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8301532" y="5715000"/>
            <a:ext cx="1037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Morpho</a:t>
            </a:r>
          </a:p>
        </p:txBody>
      </p:sp>
      <p:sp>
        <p:nvSpPr>
          <p:cNvPr id="168" name="tile_Aave"/>
          <p:cNvSpPr/>
          <p:nvPr/>
        </p:nvSpPr>
        <p:spPr>
          <a:xfrm>
            <a:off x="9439757" y="5212080"/>
            <a:ext cx="11107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9" name="logo_Aave" descr="aave_com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821418" y="5312664"/>
            <a:ext cx="347472" cy="347472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9476333" y="5715000"/>
            <a:ext cx="1037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Aave</a:t>
            </a:r>
          </a:p>
        </p:txBody>
      </p:sp>
      <p:sp>
        <p:nvSpPr>
          <p:cNvPr id="171" name="tile_MetaMask"/>
          <p:cNvSpPr/>
          <p:nvPr/>
        </p:nvSpPr>
        <p:spPr>
          <a:xfrm>
            <a:off x="10614558" y="5212080"/>
            <a:ext cx="1110792" cy="9144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 w="635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2" name="logo_MetaMask" descr="metamask_io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996218" y="5312664"/>
            <a:ext cx="347472" cy="347472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10651134" y="5715000"/>
            <a:ext cx="1037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20" b="1" i="0">
                <a:solidFill>
                  <a:srgbClr val="10192B"/>
                </a:solidFill>
                <a:latin typeface="Arial"/>
              </a:rPr>
              <a:t>MetaMask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5760" y="632764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5A5"/>
                </a:solidFill>
                <a:latin typeface="Arial"/>
              </a:rPr>
              <a:t>Several firms deliberately appear in more than one layer: Dinari, Securitize and Superstate each combine a transfer agent with a broker-dealer or venue.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38160" y="6327648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800" b="1" i="0">
                <a:solidFill>
                  <a:srgbClr val="8A95A5"/>
                </a:solidFill>
                <a:latin typeface="Arial"/>
              </a:rPr>
              <a:t>Sources for every entry in the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0192B"/>
                </a:solidFill>
                <a:latin typeface="Arial"/>
              </a:rPr>
              <a:t>Three competing models, not one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77A"/>
                </a:solidFill>
                <a:latin typeface="Arial"/>
              </a:rPr>
              <a:t>The layers above are assembled differently depending on who holds the share and what the token actually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363717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3637178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2714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E79"/>
                </a:solidFill>
                <a:latin typeface="Arial"/>
              </a:rPr>
              <a:t>ISSUER-SPONSORED /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7"/>
            <a:ext cx="32714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192B"/>
                </a:solidFill>
                <a:latin typeface="Arial"/>
              </a:rPr>
              <a:t>The token is the registered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31136"/>
            <a:ext cx="32714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A registered transfer agent records the holder on-chain, so token holders keep voting, dividend and corporate-action rights.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36976"/>
            <a:ext cx="3271418" cy="1828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32714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A95A5"/>
                </a:solidFill>
                <a:latin typeface="Arial"/>
              </a:rPr>
              <a:t>WHO IS DOING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17035"/>
            <a:ext cx="50292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63931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Superstate  Opening Bell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91355"/>
            <a:ext cx="50292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391363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Securitize  +  Computershare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65675"/>
            <a:ext cx="50292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18795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Injective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39995"/>
            <a:ext cx="50292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446227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Backpack  (venue)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1"/>
            <a:ext cx="3271418" cy="1828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74336"/>
            <a:ext cx="32714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A95A5"/>
                </a:solidFill>
                <a:latin typeface="Arial"/>
              </a:rPr>
              <a:t>Strongest legal claim; requires issuer consent and a registered 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7258" y="1115568"/>
            <a:ext cx="363717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7258" y="1115568"/>
            <a:ext cx="3637178" cy="50292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0138" y="1353312"/>
            <a:ext cx="32714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6A15"/>
                </a:solidFill>
                <a:latin typeface="Arial"/>
              </a:rPr>
              <a:t>DEPOSITORY-TOKENIZED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0138" y="1664207"/>
            <a:ext cx="32714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192B"/>
                </a:solidFill>
                <a:latin typeface="Arial"/>
              </a:rPr>
              <a:t>DTC tokenizes the existing entitlement.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2231136"/>
            <a:ext cx="32714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Trades execute and settle conventionally on Nasdaq or NYSE, then DTC mints a token to the buyer's wallet as a post-trade step.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0138" y="3236976"/>
            <a:ext cx="3271418" cy="1828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0138" y="3383280"/>
            <a:ext cx="32714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A95A5"/>
                </a:solidFill>
                <a:latin typeface="Arial"/>
              </a:rPr>
              <a:t>WHO IS DOING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0138" y="3717035"/>
            <a:ext cx="50292" cy="50292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06442" y="363931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DTCC / DTC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0138" y="3991355"/>
            <a:ext cx="50292" cy="50292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06442" y="391363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Nasdaq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0138" y="4265675"/>
            <a:ext cx="50292" cy="50292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6442" y="418795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NYSE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0138" y="4539995"/>
            <a:ext cx="50292" cy="50292"/>
          </a:xfrm>
          <a:prstGeom prst="rect">
            <a:avLst/>
          </a:prstGeom>
          <a:solidFill>
            <a:srgbClr val="B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06442" y="446227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Chainlink  (collateral)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0138" y="4828031"/>
            <a:ext cx="3271418" cy="1828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60138" y="4974336"/>
            <a:ext cx="32714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A95A5"/>
                </a:solidFill>
                <a:latin typeface="Arial"/>
              </a:rPr>
              <a:t>Preserves the whole existing rulebook; settlement stays T+1 for now.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8756" y="1115568"/>
            <a:ext cx="363717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88756" y="1115568"/>
            <a:ext cx="3637178" cy="50292"/>
          </a:xfrm>
          <a:prstGeom prst="rect">
            <a:avLst/>
          </a:prstGeom>
          <a:solidFill>
            <a:srgbClr val="15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71636" y="1353312"/>
            <a:ext cx="32714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56C8C"/>
                </a:solidFill>
                <a:latin typeface="Arial"/>
              </a:rPr>
              <a:t>CUSTODIAL / 1:1 BACKED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1636" y="1664207"/>
            <a:ext cx="32714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192B"/>
                </a:solidFill>
                <a:latin typeface="Arial"/>
              </a:rPr>
              <a:t>A regulated custodian holds the real share.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1636" y="2231136"/>
            <a:ext cx="32714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A broker-dealer or SPV holds shares one-for-one and issues a token that tracks them; rights pass through by contract, not by register.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71636" y="3236976"/>
            <a:ext cx="3271418" cy="1828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71636" y="3383280"/>
            <a:ext cx="327141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A95A5"/>
                </a:solidFill>
                <a:latin typeface="Arial"/>
              </a:rPr>
              <a:t>WHO IS DOING 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71636" y="3717035"/>
            <a:ext cx="50292" cy="50292"/>
          </a:xfrm>
          <a:prstGeom prst="rect">
            <a:avLst/>
          </a:prstGeom>
          <a:solidFill>
            <a:srgbClr val="15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17940" y="363931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Backed  xStocks  /  Kraken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71636" y="3991355"/>
            <a:ext cx="50292" cy="50292"/>
          </a:xfrm>
          <a:prstGeom prst="rect">
            <a:avLst/>
          </a:prstGeom>
          <a:solidFill>
            <a:srgbClr val="15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17940" y="391363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Coinbase  (Alpaca custody)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71636" y="4265675"/>
            <a:ext cx="50292" cy="50292"/>
          </a:xfrm>
          <a:prstGeom prst="rect">
            <a:avLst/>
          </a:prstGeom>
          <a:solidFill>
            <a:srgbClr val="15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17940" y="418795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Dinari  dShares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71636" y="4539995"/>
            <a:ext cx="50292" cy="50292"/>
          </a:xfrm>
          <a:prstGeom prst="rect">
            <a:avLst/>
          </a:prstGeom>
          <a:solidFill>
            <a:srgbClr val="15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17940" y="4462271"/>
            <a:ext cx="31251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92B"/>
                </a:solidFill>
                <a:latin typeface="Arial"/>
              </a:rPr>
              <a:t>Ondo  +  Oasis Pro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71636" y="4828031"/>
            <a:ext cx="3271418" cy="1828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71636" y="4974336"/>
            <a:ext cx="32714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A95A5"/>
                </a:solidFill>
                <a:latin typeface="Arial"/>
              </a:rPr>
              <a:t>Fastest to scale and the bulk of live volume; weakest direct claim.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77900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A677A"/>
                </a:solidFill>
                <a:latin typeface="Arial"/>
              </a:rPr>
              <a:t>Where the money is today: tokenized equities were roughly $300m of on-chain AUM in Q1 2026 and the spot market reached about $487m by the end of Q1, against a $524.8bn quarter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A677A"/>
                </a:solidFill>
                <a:latin typeface="Arial"/>
              </a:rPr>
              <a:t>in RWA perpetuals. The custodial model carries most of that volume; the issuer-sponsored and depository models carry most of the regulatory weight.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0192B"/>
                </a:solidFill>
                <a:latin typeface="Arial"/>
              </a:rPr>
              <a:t>Appendix: sources  (1 of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Every entry on the market map, the specific claim it rests on, and where that claim was verified.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87552"/>
          <a:ext cx="1145743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Verified claim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Securitize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SEC-registered transfer agent; named the first digital TA eligible to mint blockchain-native corporate stock and ETF securities for NYSE's affiliated Digital Trading Platform (Mar 2026).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2"/>
                        </a:rPr>
                        <a:t>Ledger Insights, Mar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Computershare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Transfer agent to a majority of the S&amp;P 500; partnered with Securitize so US-listed clients can issue blockchain versions of their shares as Issuer-Sponsored Tokens.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3"/>
                        </a:rPr>
                        <a:t>Forbes, 29 Apr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Superstate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Superstate Services LLC is an SEC-registered transfer agent; its Opening Bell platform issues SEC-registered public equity shares natively on Solana and Ethereum.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4"/>
                        </a:rPr>
                        <a:t>Superstate docs / CoinDesk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Dinari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Dinari Inc. is registered with the SEC as a transfer agent and maintains the shareholder register behind its dShares tokenized equities.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5"/>
                        </a:rPr>
                        <a:t>GlobeNewswire, 4 Aug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Injective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Injective Institutional Services became an SEC-registered transfer agent on 19 Aug 2026, the first layer-1 blockchain affiliate to hold the registration.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6"/>
                        </a:rPr>
                        <a:t>The Block, 19 Aug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Oasis Pro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Transfer agent minting Ondo's 1:1 tokenized entitlements to BlackRock's IVV ETF and Micron shares on Ethereum under the SEC's third-party custodial model.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7"/>
                        </a:rPr>
                        <a:t>Broadridge / CoinDesk, Jul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Broadridge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Transfer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Extends shareholder communications, proxy materials and voting rights to holders of Ondo's tokenized securities through its investor services infrastructure.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7"/>
                        </a:rPr>
                        <a:t>Broadridge press release,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Nasdaq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SEC approved Nasdaq's rule change (SR-NASDAQ-2025-072) in Mar 2026 to trade tokenized Russell 1000 stocks and index ETFs on the same order book as ordinary shares.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8"/>
                        </a:rPr>
                        <a:t>SEC Rel. 34-105047, Mar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NYSE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SEC approved SR-NYSE-2026-17 with immediate effectiveness on 17 Apr 2026, allowing tokenized securities to be listed and traded; NYSE also stood up an affiliated Digital Trading Platform.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9"/>
                        </a:rPr>
                        <a:t>SEC Rel. 34-105260, Apr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Kraken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Distributes xStocks (100+ listings, &gt;$25bn cumulative volume); agreed in Dec 2025 to acquire issuer Backed, and parent Payward signed a tokenization pact with Nasdaq.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0"/>
                        </a:rPr>
                        <a:t>Kraken blog, Dec 2025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Coinbase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Launched 1:1-backed tokenized US stocks natively on Base on 24 Aug 2026 (NVDAc, METAc, AAPLc, GOOGLc first) for eligible non-US users; not yet available to US customers.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1"/>
                        </a:rPr>
                        <a:t>CoinDesk, 24 Aug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Robinhood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Switched on 200+ EU stock and ETF tokens on Arbitrum from Jun 2025, since expanded past 2,000; Robinhood Chain L2 mainnet went live 1 Jul 2026. EU/EEA only, not US.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2"/>
                        </a:rPr>
                        <a:t>Robinhood newsroom, 2025-26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8A95A5"/>
                </a:solidFill>
                <a:latin typeface="Arial"/>
              </a:rPr>
              <a:t>Source links are live hyperlinks. Where a claim rests on secondary coverage rather than a filing or company release, the outlet is named explicitly.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0192B"/>
                </a:solidFill>
                <a:latin typeface="Arial"/>
              </a:rPr>
              <a:t>Appendix: sources  (2 of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Every entry on the market map, the specific claim it rests on, and where that claim was verified.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87552"/>
          <a:ext cx="1145743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Verified claim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Bybit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Listed xStocks from the 30 Jun 2025 launch and accepts a set of xStocks as margin collateral.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2"/>
                        </a:rPr>
                        <a:t>PR Newswire, 30 Jun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Gemini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Offers tokenized US stocks and ETFs to EU users under a Malta MiFID II licence, with tokens issued via Dinari; began Jun 2025 with MicroStrategy shares.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3"/>
                        </a:rPr>
                        <a:t>CoinDesk, 27 Jun 2025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Backpack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Exchange / 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Lists Superstate Opening Bell SEC-registered tokenized stocks, giving holders actual shareholder status rather than synthetic exposure.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4"/>
                        </a:rPr>
                        <a:t>CoinDesk, 15 Oct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Dinari Securities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SEC-registered broker-dealer and FINRA/SIPC member; first US platform cleared to offer tokenized US equities domestically. Listed 724 tokenized stocks including the full S&amp;P 500 on 4 Aug 2026.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5"/>
                        </a:rPr>
                        <a:t>CoinDesk, 4 Aug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Securitize Markets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SEC-registered broker-dealer and operator of an SEC-regulated ATS; will act as a trading participant on NYSE's Digital Trading Platform.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6"/>
                        </a:rPr>
                        <a:t>Ledger Insights, Mar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tZERO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Broker-dealer and ATS; in Jul 2026 partnered with Dinari on a turnkey tokenized US equities platform for broker-dealers spanning issuance, trading, custody, settlement and shareholder servicing.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7"/>
                        </a:rPr>
                        <a:t>CoinDesk, 8 Jul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Texture Capital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SEC-registered broker-dealer operating an ATS for private placements, retail offerings and secondary trading of digital securities.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8"/>
                        </a:rPr>
                        <a:t>Texture Capital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North Capital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With tZERO launched Agora (Jan 2026), described as the first technology network connecting ATSs to broaden market access for tokenized securities.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9"/>
                        </a:rPr>
                        <a:t>tZERO, 15 Jan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Ondo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Ondo Global Markets / Ondo Stocks tokenizes US equities and ETFs backed by shares held with US broker-dealers; passed $1bn TVL within eight months of its Sep 2025 launch.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0"/>
                        </a:rPr>
                        <a:t>CoinDesk, 1 Jul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Alpaca Securities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Broker-dealer / ATS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US broker-dealer acting as custodian of the shares backing Coinbase's tokenized stocks (ADGM framework) and part of Backed's segregated custody chain.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1"/>
                        </a:rPr>
                        <a:t>Genfinity, 25 Aug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DTCC / DTC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Tokenized securities service: SEC no-action letter Dec 2025 for a three-year pilot, limited production trades from Jul 2026, full launch scheduled Oct 2026. Covers Russell 1000 equities, ETFs and Treasuries with 50+ participating firms.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2"/>
                        </a:rPr>
                        <a:t>CoinDesk, 4 May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Chainlink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Selected to power DTCC's Collateral AppChain (Q4 2026 launch) for pricing, valuation, margining and settlement; also provides Proof of Reserve for Backed's xStocks.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3"/>
                        </a:rPr>
                        <a:t>CoinDesk, 12 May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8A95A5"/>
                </a:solidFill>
                <a:latin typeface="Arial"/>
              </a:rPr>
              <a:t>Source links are live hyperlinks. Where a claim rests on secondary coverage rather than a filing or company release, the outlet is named explicitly.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0192B"/>
                </a:solidFill>
                <a:latin typeface="Arial"/>
              </a:rPr>
              <a:t>Appendix: sources  (3 of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Every entry on the market map, the specific claim it rests on, and where that claim was verified.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87552"/>
          <a:ext cx="1145743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Verified claim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Circle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USDC is the cash and settlement leg for on-chain equity trading, including Dinari's US S&amp;P 500 launch; Circle is also a DTCC tokenization working group participant.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2"/>
                        </a:rPr>
                        <a:t>Crypto Briefing, Aug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Fireblocks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Custody and transfer infrastructure; named participant in DTCC's tokenized securities working group alongside BlackRock, Goldman Sachs and JPMorgan.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3"/>
                        </a:rPr>
                        <a:t>Decrypt,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Solana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Primary settlement chain for Backed's xStocks (c.86% of tokenized-stock issuance on Solana) and for Superstate Opening Bell shares.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4"/>
                        </a:rPr>
                        <a:t>The Block,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Ethereum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Issuance chain for Ondo's Oasis Pro-minted tokenized IVV and Micron entitlements, and for Securitize-issued securities.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5"/>
                        </a:rPr>
                        <a:t>CoinDesk, 1 Jul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Arbitrum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Hosts Robinhood's EU stock tokens; Robinhood Chain is built on the Arbitrum Orbit stack.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6"/>
                        </a:rPr>
                        <a:t>Robinhood newsroom, Feb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Settlement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Settlement layer for Coinbase's tokenized US stocks, issued as B20 tokens and integrated into Base DeFi from day one.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7"/>
                        </a:rPr>
                        <a:t>CoinDesk, 24 Aug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Anchorage Digital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OCC-chartered digital asset bank and qualified custodian under Advisers Act Rule 206(4)-2; favoured by banks and regulated issuers. Early participant in BNY's tokenized deposit platform.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8"/>
                        </a:rPr>
                        <a:t>BNY / Eco custody survey,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BitGo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BitGo Trust is an NYDFS-regulated qualified custodian widely used by exchanges and asset managers for tokenized assets.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9"/>
                        </a:rPr>
                        <a:t>Eco custody survey,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Coinbase Custody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Qualified custodian arm of Coinbase providing institutional custody for tokenized real-world assets.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9"/>
                        </a:rPr>
                        <a:t>Eco custody survey,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Fireblocks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MPC-based custody and wallet infrastructure that frequently sits behind qualified custodians, issuers and exchanges.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9"/>
                        </a:rPr>
                        <a:t>Eco custody survey,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BNY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First G-SIB to offer regulated digital asset custody; platform live in the US with USDC supported, and has launched global digital transfer agency capabilities integrating tokenization, distribution and custody.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10"/>
                        </a:rPr>
                        <a:t>BNY press releases,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State Street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State Street Investment Management is a named participant in DTCC's tokenized securities pilot working group.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3"/>
                        </a:rPr>
                        <a:t>Decrypt,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8A95A5"/>
                </a:solidFill>
                <a:latin typeface="Arial"/>
              </a:rPr>
              <a:t>Source links are live hyperlinks. Where a claim rests on secondary coverage rather than a filing or company release, the outlet is named explicitly.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0192B"/>
                </a:solidFill>
                <a:latin typeface="Arial"/>
              </a:rPr>
              <a:t>Appendix: sources  (4 of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77A"/>
                </a:solidFill>
                <a:latin typeface="Arial"/>
              </a:rPr>
              <a:t>Every entry on the market map, the specific claim it rests on, and where that claim was verified.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87552"/>
          <a:ext cx="1145743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Verified claim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64008" marR="64008" marT="27432" marB="27432" anchor="ctr">
                    <a:solidFill>
                      <a:srgbClr val="1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InCore Bank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FINMA-supervised Swiss B2B bank holding segregated sub-accounts of the shares backing Backed's xStocks.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2"/>
                        </a:rPr>
                        <a:t>Backed structure review,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Maerki Baumann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Zurich private bank holding dedicated segregated sub-accounts backing xStocks, with no commingling between products.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2"/>
                        </a:rPr>
                        <a:t>Backed structure review, 2025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Clearstream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Deutsche Boerse CSD named as part of the custody chain for Backed's underlying securities.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2"/>
                        </a:rPr>
                        <a:t>Backed structure review,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Alpaca Securities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Custody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Regulated custodian of the 1:1 shares backing Coinbase's B20 tokenized stocks under the ADGM framework.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3"/>
                        </a:rPr>
                        <a:t>Genfinity, 25 Aug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Kamino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DeFi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First major DeFi lender to accept tokenized stocks as collateral (xStocks, Jul 2025); Kamino Lend now runs roughly 83% of tokenized-stock lending on Solana.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4"/>
                        </a:rPr>
                        <a:t>The Defiant / KuCoin,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Jupiter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DeFi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Jupiter Lend accepts xStocks as collateral on Solana, alongside Kamino.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5"/>
                        </a:rPr>
                        <a:t>Eco / market data,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Raydium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DeFi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AMM liquidity pools for xStocks on Solana, letting holders earn trading fees on tokenized equity pairs.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6"/>
                        </a:rPr>
                        <a:t>PR Newswire, 30 Jun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Morpho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DeFi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Ondo's SPYon and QQQon are live as collateral in Morpho markets curated by Gauntlet; RWA collateral on Morpho reached roughly $330-400m by mid-2026.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7"/>
                        </a:rPr>
                        <a:t>Morpho,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Aave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DeFi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Aave V4 is the first credit market to support Coinbase's tokenized stocks on Base; Aave is explicitly targeting the securities lending market with tokenized equity collateral.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8"/>
                        </a:rPr>
                        <a:t>Coinfomania / Blockonomi,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0192B"/>
                          </a:solidFill>
                          <a:latin typeface="Arial"/>
                        </a:rPr>
                        <a:t>MetaMask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5A677A"/>
                          </a:solidFill>
                          <a:latin typeface="Arial"/>
                        </a:rPr>
                        <a:t>DeFi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0">
                          <a:solidFill>
                            <a:srgbClr val="10192B"/>
                          </a:solidFill>
                          <a:latin typeface="Arial"/>
                        </a:rPr>
                        <a:t>Ondo integration puts 200+ tokenized US stocks and ETFs directly inside the MetaMask mobile wallet for eligible users.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F4E79"/>
                          </a:solidFill>
                          <a:latin typeface="Arial"/>
                          <a:hlinkClick r:id="rId9"/>
                        </a:rPr>
                        <a:t>Ondo, 2026</a:t>
                      </a:r>
                    </a:p>
                  </a:txBody>
                  <a:tcPr marL="64008" marR="64008"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8A95A5"/>
                </a:solidFill>
                <a:latin typeface="Arial"/>
              </a:rPr>
              <a:t>Source links are live hyperlinks. Where a claim rests on secondary coverage rather than a filing or company release, the outlet is named explicitly.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2247</Words>
  <Application>Microsoft Office PowerPoint</Application>
  <PresentationFormat>Widescreen</PresentationFormat>
  <Paragraphs>317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Sanskar</dc:creator>
  <cp:keywords/>
  <dc:description>generated using python-pptx</dc:description>
  <cp:lastModifiedBy>Sanskar Chindalia</cp:lastModifiedBy>
  <cp:revision>1</cp:revision>
  <dcterms:created xsi:type="dcterms:W3CDTF">2013-01-27T09:14:16Z</dcterms:created>
  <dcterms:modified xsi:type="dcterms:W3CDTF">2026-09-11T04:32:20Z</dcterms:modified>
  <cp:category/>
</cp:coreProperties>
</file>