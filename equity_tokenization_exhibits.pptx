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097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tokenization: three models across the value chain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equity lifecycle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68880" y="658368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E9E9E9"/>
          </a:solidFill>
          <a:ln w="9525">
            <a:solidFill>
              <a:srgbClr val="B0B0B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468880" y="6583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</a:rPr>
              <a:t>Issuance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</a:rPr>
              <a:t>Transfer agent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739896" y="909828"/>
            <a:ext cx="201168" cy="0"/>
          </a:xfrm>
          <a:prstGeom prst="line">
            <a:avLst/>
          </a:prstGeom>
          <a:noFill/>
          <a:ln w="19050">
            <a:solidFill>
              <a:srgbClr val="B0B0B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977640" y="658368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E9E9E9"/>
          </a:solidFill>
          <a:ln w="9525">
            <a:solidFill>
              <a:srgbClr val="B0B0B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77640" y="6583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</a:rPr>
              <a:t>Trading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</a:rPr>
              <a:t>Exchange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48656" y="909828"/>
            <a:ext cx="201168" cy="0"/>
          </a:xfrm>
          <a:prstGeom prst="line">
            <a:avLst/>
          </a:prstGeom>
          <a:noFill/>
          <a:ln w="19050">
            <a:solidFill>
              <a:srgbClr val="B0B0B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0" y="658368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E9E9E9"/>
          </a:solidFill>
          <a:ln w="9525">
            <a:solidFill>
              <a:srgbClr val="B0B0B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0" y="6583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</a:rPr>
              <a:t>Clearing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</a:rPr>
              <a:t>NSCC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57416" y="909828"/>
            <a:ext cx="201168" cy="0"/>
          </a:xfrm>
          <a:prstGeom prst="line">
            <a:avLst/>
          </a:prstGeom>
          <a:noFill/>
          <a:ln w="19050">
            <a:solidFill>
              <a:srgbClr val="B0B0B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995160" y="658368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E9E9E9"/>
          </a:solidFill>
          <a:ln w="9525">
            <a:solidFill>
              <a:srgbClr val="B0B0B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95160" y="6583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</a:rPr>
              <a:t>Settlement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</a:rPr>
              <a:t>DTC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57200" y="15087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D7377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40080" y="1645920"/>
            <a:ext cx="256032" cy="256032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1618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Issuer-level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18562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Securitize, Figure,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Bullish-Equiniti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0080" y="21031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ownership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468880" y="169164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E0F2F1"/>
          </a:solidFill>
          <a:ln w="19050">
            <a:solidFill>
              <a:srgbClr val="0D7377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468880" y="16916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7377"/>
                </a:solidFill>
              </a:rPr>
              <a:t>Issuance</a:t>
            </a:r>
            <a:endParaRPr lang="en-US" sz="105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0D7377"/>
                </a:solidFill>
              </a:rPr>
              <a:t>Tokenized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739896" y="1943100"/>
            <a:ext cx="201168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977640" y="169164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F7F7F7"/>
          </a:solidFill>
          <a:ln w="6350">
            <a:solidFill>
              <a:srgbClr val="D5D5D5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3977640" y="16916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BBBB"/>
                </a:solidFill>
              </a:rPr>
              <a:t>Trading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CCCCCC"/>
                </a:solidFill>
              </a:rPr>
              <a:t>Unchanged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48656" y="1943100"/>
            <a:ext cx="201168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486400" y="169164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F7F7F7"/>
          </a:solidFill>
          <a:ln w="6350">
            <a:solidFill>
              <a:srgbClr val="D5D5D5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5486400" y="16916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BBBB"/>
                </a:solidFill>
              </a:rPr>
              <a:t>Clearing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CCCCCC"/>
                </a:solidFill>
              </a:rPr>
              <a:t>Unchanged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57416" y="1943100"/>
            <a:ext cx="201168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995160" y="169164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F7F7F7"/>
          </a:solidFill>
          <a:ln w="6350">
            <a:solidFill>
              <a:srgbClr val="D5D5D5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6995160" y="16916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BBBB"/>
                </a:solidFill>
              </a:rPr>
              <a:t>Settlement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CCCCCC"/>
                </a:solidFill>
              </a:rPr>
              <a:t>Unchanged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52360" y="20756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transfer agent.</a:t>
            </a:r>
            <a:endParaRPr lang="en-US" sz="750" dirty="0"/>
          </a:p>
          <a:p>
            <a:pPr marL="0" indent="0">
              <a:buNone/>
            </a:pPr>
            <a:r>
              <a:rPr lang="en-US" sz="750" i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born on-chain.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57200" y="26060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C3489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40080" y="2743200"/>
            <a:ext cx="256032" cy="256032"/>
          </a:xfrm>
          <a:prstGeom prst="ellipse">
            <a:avLst/>
          </a:prstGeom>
          <a:solidFill>
            <a:srgbClr val="3C3489"/>
          </a:solidFill>
          <a:ln/>
        </p:spPr>
      </p:sp>
      <p:sp>
        <p:nvSpPr>
          <p:cNvPr id="35" name="Text 33"/>
          <p:cNvSpPr/>
          <p:nvPr/>
        </p:nvSpPr>
        <p:spPr>
          <a:xfrm>
            <a:off x="1005840" y="2715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Infrastructure-level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05840" y="29535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DTCC,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Canton Network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40080" y="3200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ownership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468880" y="278892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F7F7F7"/>
          </a:solidFill>
          <a:ln w="6350">
            <a:solidFill>
              <a:srgbClr val="D5D5D5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2468880" y="2788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BBBB"/>
                </a:solidFill>
              </a:rPr>
              <a:t>Issuance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CCCCCC"/>
                </a:solidFill>
              </a:rPr>
              <a:t>Unchanged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739896" y="3040380"/>
            <a:ext cx="201168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977640" y="278892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F7F7F7"/>
          </a:solidFill>
          <a:ln w="6350">
            <a:solidFill>
              <a:srgbClr val="D5D5D5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3977640" y="2788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BBBB"/>
                </a:solidFill>
              </a:rPr>
              <a:t>Trading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CCCCCC"/>
                </a:solidFill>
              </a:rPr>
              <a:t>Unchanged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248656" y="3040380"/>
            <a:ext cx="201168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486400" y="278892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EDE7F6"/>
          </a:solidFill>
          <a:ln w="19050">
            <a:solidFill>
              <a:srgbClr val="3C3489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486400" y="2788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C3489"/>
                </a:solidFill>
              </a:rPr>
              <a:t>Clearing</a:t>
            </a:r>
            <a:endParaRPr lang="en-US" sz="105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3C3489"/>
                </a:solidFill>
              </a:rPr>
              <a:t>Tokenized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757416" y="3040380"/>
            <a:ext cx="201168" cy="0"/>
          </a:xfrm>
          <a:prstGeom prst="line">
            <a:avLst/>
          </a:prstGeom>
          <a:noFill/>
          <a:ln w="12700">
            <a:solidFill>
              <a:srgbClr val="3C3489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995160" y="278892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EDE7F6"/>
          </a:solidFill>
          <a:ln w="19050">
            <a:solidFill>
              <a:srgbClr val="3C3489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995160" y="2788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C3489"/>
                </a:solidFill>
              </a:rPr>
              <a:t>Settlement</a:t>
            </a:r>
            <a:endParaRPr lang="en-US" sz="105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3C3489"/>
                </a:solidFill>
              </a:rPr>
              <a:t>Tokenized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452360" y="31729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Wraps existing securities.</a:t>
            </a:r>
            <a:endParaRPr lang="en-US" sz="750" dirty="0"/>
          </a:p>
          <a:p>
            <a:pPr marL="0" indent="0">
              <a:buNone/>
            </a:pPr>
            <a:r>
              <a:rPr lang="en-US" sz="750" i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DVP, T+0.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57200" y="37033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5B39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640080" y="3840480"/>
            <a:ext cx="256032" cy="256032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52" name="Text 50"/>
          <p:cNvSpPr/>
          <p:nvPr/>
        </p:nvSpPr>
        <p:spPr>
          <a:xfrm>
            <a:off x="1005840" y="3813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Trading-level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05840" y="4050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Robinhood, Backed,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Dinari, Ondo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40080" y="4297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75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exposure only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468880" y="388620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F7F7F7"/>
          </a:solidFill>
          <a:ln w="6350">
            <a:solidFill>
              <a:srgbClr val="D5D5D5"/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2468880" y="38862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BBBB"/>
                </a:solidFill>
              </a:rPr>
              <a:t>Issuance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CCCCCC"/>
                </a:solidFill>
              </a:rPr>
              <a:t>Unchanged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739896" y="4137660"/>
            <a:ext cx="201168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3977640" y="388620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FBE9E7"/>
          </a:solidFill>
          <a:ln w="19050">
            <a:solidFill>
              <a:srgbClr val="C75B39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3977640" y="38862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75B39"/>
                </a:solidFill>
              </a:rPr>
              <a:t>Trading</a:t>
            </a:r>
            <a:endParaRPr lang="en-US" sz="105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C75B39"/>
                </a:solidFill>
              </a:rPr>
              <a:t>Tokenized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248656" y="4137660"/>
            <a:ext cx="201168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5486400" y="388620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F7F7F7"/>
          </a:solidFill>
          <a:ln w="6350">
            <a:solidFill>
              <a:srgbClr val="D5D5D5"/>
            </a:solidFill>
            <a:prstDash val="dash"/>
          </a:ln>
        </p:spPr>
      </p:sp>
      <p:sp>
        <p:nvSpPr>
          <p:cNvPr id="62" name="Text 60"/>
          <p:cNvSpPr/>
          <p:nvPr/>
        </p:nvSpPr>
        <p:spPr>
          <a:xfrm>
            <a:off x="5486400" y="38862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BBBB"/>
                </a:solidFill>
              </a:rPr>
              <a:t>Clearing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CCCCCC"/>
                </a:solidFill>
              </a:rPr>
              <a:t>Unchanged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757416" y="4137660"/>
            <a:ext cx="201168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6995160" y="388620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F7F7F7"/>
          </a:solidFill>
          <a:ln w="6350">
            <a:solidFill>
              <a:srgbClr val="D5D5D5"/>
            </a:solidFill>
            <a:prstDash val="dash"/>
          </a:ln>
        </p:spPr>
      </p:sp>
      <p:sp>
        <p:nvSpPr>
          <p:cNvPr id="65" name="Text 63"/>
          <p:cNvSpPr/>
          <p:nvPr/>
        </p:nvSpPr>
        <p:spPr>
          <a:xfrm>
            <a:off x="6995160" y="38862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BBBB"/>
                </a:solidFill>
              </a:rPr>
              <a:t>Settlement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CCCCCC"/>
                </a:solidFill>
              </a:rPr>
              <a:t>Unchanged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498080" y="43464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C75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Derivative wrapper.</a:t>
            </a:r>
            <a:endParaRPr lang="en-US" sz="750" dirty="0"/>
          </a:p>
          <a:p>
            <a:pPr marL="0" indent="0">
              <a:buNone/>
            </a:pPr>
            <a:r>
              <a:rPr lang="en-US" sz="750" i="1" dirty="0">
                <a:solidFill>
                  <a:srgbClr val="C75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24x5, no governance rights.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SEC filings, company disclosures, Bernstein analysis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origination and securitization: traditional vs. Figure tokenized model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FDEDEC"/>
          </a:solidFill>
          <a:ln w="9525">
            <a:solidFill>
              <a:srgbClr val="B03A2E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594360" y="850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0698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6-8 weeks  |  7+ intermediaries  |  High cost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05840" cy="640080"/>
          </a:xfrm>
          <a:prstGeom prst="roundRect">
            <a:avLst>
              <a:gd name="adj" fmla="val 7143"/>
            </a:avLst>
          </a:prstGeom>
          <a:solidFill>
            <a:srgbClr val="E9E9E9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10058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</a:rPr>
              <a:t>Borrower</a:t>
            </a:r>
            <a:endParaRPr lang="en-US" sz="85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777777"/>
                </a:solidFill>
              </a:rPr>
              <a:t>Applies for</a:t>
            </a:r>
            <a:endParaRPr lang="en-US" sz="85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777777"/>
                </a:solidFill>
              </a:rPr>
              <a:t>HELOC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64208" y="1737360"/>
            <a:ext cx="128016" cy="0"/>
          </a:xfrm>
          <a:prstGeom prst="line">
            <a:avLst/>
          </a:prstGeom>
          <a:noFill/>
          <a:ln w="12700">
            <a:solidFill>
              <a:srgbClr val="B0B0B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10512" y="1417320"/>
            <a:ext cx="1005840" cy="640080"/>
          </a:xfrm>
          <a:prstGeom prst="roundRect">
            <a:avLst>
              <a:gd name="adj" fmla="val 7143"/>
            </a:avLst>
          </a:prstGeom>
          <a:solidFill>
            <a:srgbClr val="E9E9E9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10512" y="1417320"/>
            <a:ext cx="10058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</a:rPr>
              <a:t>Originator</a:t>
            </a:r>
            <a:endParaRPr lang="en-US" sz="85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777777"/>
                </a:solidFill>
              </a:rPr>
              <a:t>Underwrites</a:t>
            </a:r>
            <a:endParaRPr lang="en-US" sz="85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777777"/>
                </a:solidFill>
              </a:rPr>
              <a:t>loan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834640" y="1737360"/>
            <a:ext cx="128016" cy="0"/>
          </a:xfrm>
          <a:prstGeom prst="line">
            <a:avLst/>
          </a:prstGeom>
          <a:noFill/>
          <a:ln w="12700">
            <a:solidFill>
              <a:srgbClr val="B0B0B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80944" y="1417320"/>
            <a:ext cx="1005840" cy="640080"/>
          </a:xfrm>
          <a:prstGeom prst="roundRect">
            <a:avLst>
              <a:gd name="adj" fmla="val 7143"/>
            </a:avLst>
          </a:prstGeom>
          <a:solidFill>
            <a:srgbClr val="E9E9E9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80944" y="1417320"/>
            <a:ext cx="10058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</a:rPr>
              <a:t>Warehouse</a:t>
            </a:r>
            <a:endParaRPr lang="en-US" sz="85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777777"/>
                </a:solidFill>
              </a:rPr>
              <a:t>Short-term</a:t>
            </a:r>
            <a:endParaRPr lang="en-US" sz="85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777777"/>
                </a:solidFill>
              </a:rPr>
              <a:t>funding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005072" y="1737360"/>
            <a:ext cx="128016" cy="0"/>
          </a:xfrm>
          <a:prstGeom prst="line">
            <a:avLst/>
          </a:prstGeom>
          <a:noFill/>
          <a:ln w="12700">
            <a:solidFill>
              <a:srgbClr val="B0B0B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151376" y="1417320"/>
            <a:ext cx="1005840" cy="640080"/>
          </a:xfrm>
          <a:prstGeom prst="roundRect">
            <a:avLst>
              <a:gd name="adj" fmla="val 7143"/>
            </a:avLst>
          </a:prstGeom>
          <a:solidFill>
            <a:srgbClr val="E9E9E9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51376" y="1417320"/>
            <a:ext cx="10058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</a:rPr>
              <a:t>Investment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</a:rPr>
              <a:t>Bank</a:t>
            </a:r>
            <a:endParaRPr lang="en-US" sz="85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777777"/>
                </a:solidFill>
              </a:rPr>
              <a:t>Pools &amp; </a:t>
            </a:r>
            <a:endParaRPr lang="en-US" sz="85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777777"/>
                </a:solidFill>
              </a:rPr>
              <a:t>structures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75504" y="1737360"/>
            <a:ext cx="128016" cy="0"/>
          </a:xfrm>
          <a:prstGeom prst="line">
            <a:avLst/>
          </a:prstGeom>
          <a:noFill/>
          <a:ln w="12700">
            <a:solidFill>
              <a:srgbClr val="B0B0B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321808" y="1417320"/>
            <a:ext cx="1005840" cy="640080"/>
          </a:xfrm>
          <a:prstGeom prst="roundRect">
            <a:avLst>
              <a:gd name="adj" fmla="val 7143"/>
            </a:avLst>
          </a:prstGeom>
          <a:solidFill>
            <a:srgbClr val="E9E9E9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21808" y="1417320"/>
            <a:ext cx="10058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</a:rPr>
              <a:t>Rating / SPV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</a:rPr>
              <a:t>/ Trustee</a:t>
            </a:r>
            <a:endParaRPr lang="en-US" sz="85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777777"/>
                </a:solidFill>
              </a:rPr>
              <a:t>Rates, holds,</a:t>
            </a:r>
            <a:endParaRPr lang="en-US" sz="85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777777"/>
                </a:solidFill>
              </a:rPr>
              <a:t>oversees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345936" y="1737360"/>
            <a:ext cx="128016" cy="0"/>
          </a:xfrm>
          <a:prstGeom prst="line">
            <a:avLst/>
          </a:prstGeom>
          <a:noFill/>
          <a:ln w="12700">
            <a:solidFill>
              <a:srgbClr val="B0B0B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92240" y="1417320"/>
            <a:ext cx="1005840" cy="640080"/>
          </a:xfrm>
          <a:prstGeom prst="roundRect">
            <a:avLst>
              <a:gd name="adj" fmla="val 7143"/>
            </a:avLst>
          </a:prstGeom>
          <a:solidFill>
            <a:srgbClr val="E9E9E9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417320"/>
            <a:ext cx="10058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</a:rPr>
              <a:t>Servicer</a:t>
            </a:r>
            <a:endParaRPr lang="en-US" sz="85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777777"/>
                </a:solidFill>
              </a:rPr>
              <a:t>Collects</a:t>
            </a:r>
            <a:endParaRPr lang="en-US" sz="85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777777"/>
                </a:solidFill>
              </a:rPr>
              <a:t>payments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516368" y="1737360"/>
            <a:ext cx="128016" cy="0"/>
          </a:xfrm>
          <a:prstGeom prst="line">
            <a:avLst/>
          </a:prstGeom>
          <a:noFill/>
          <a:ln w="12700">
            <a:solidFill>
              <a:srgbClr val="B0B0B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662672" y="1417320"/>
            <a:ext cx="1005840" cy="640080"/>
          </a:xfrm>
          <a:prstGeom prst="roundRect">
            <a:avLst>
              <a:gd name="adj" fmla="val 7143"/>
            </a:avLst>
          </a:prstGeom>
          <a:solidFill>
            <a:srgbClr val="E9E9E9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62672" y="1417320"/>
            <a:ext cx="10058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</a:rPr>
              <a:t>Investors</a:t>
            </a:r>
            <a:endParaRPr lang="en-US" sz="85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777777"/>
                </a:solidFill>
              </a:rPr>
              <a:t>Buy ABS /</a:t>
            </a:r>
            <a:endParaRPr lang="en-US" sz="85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777777"/>
                </a:solidFill>
              </a:rPr>
              <a:t>MBS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E0F2F1"/>
          </a:solidFill>
          <a:ln w="9525">
            <a:solidFill>
              <a:srgbClr val="0D7377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594360" y="2953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tokenized model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1729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days  |  ~125bps cost savings  |  $15B+ tokenized to date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34747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0D7377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3474720"/>
            <a:ext cx="14173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377"/>
                </a:solidFill>
              </a:rPr>
              <a:t>Borrower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77777"/>
                </a:solidFill>
              </a:rPr>
              <a:t>Online application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77777"/>
                </a:solidFill>
              </a:rPr>
              <a:t>5-min AI approval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084832" y="3840480"/>
            <a:ext cx="173736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286000" y="34747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0D7377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286000" y="3474720"/>
            <a:ext cx="14173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377"/>
                </a:solidFill>
              </a:rPr>
              <a:t>Figure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77777"/>
                </a:solidFill>
              </a:rPr>
              <a:t>Originates &amp;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77777"/>
                </a:solidFill>
              </a:rPr>
              <a:t>underwrites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730752" y="3840480"/>
            <a:ext cx="173736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931920" y="34747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0D7377"/>
          </a:solidFill>
          <a:ln w="19050">
            <a:solidFill>
              <a:srgbClr val="0D7377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931920" y="3474720"/>
            <a:ext cx="14173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Provenance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Blockchain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B2DFDB"/>
                </a:solidFill>
              </a:rPr>
              <a:t>Loan tokenized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B2DFDB"/>
                </a:solidFill>
              </a:rPr>
              <a:t>on-chain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376672" y="3840480"/>
            <a:ext cx="173736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577840" y="34747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0D7377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577840" y="3474720"/>
            <a:ext cx="14173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377"/>
                </a:solidFill>
              </a:rPr>
              <a:t>Marketplace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77777"/>
                </a:solidFill>
              </a:rPr>
              <a:t>Figure Connect /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77777"/>
                </a:solidFill>
              </a:rPr>
              <a:t>Democratized Prime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022592" y="3840480"/>
            <a:ext cx="173736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223760" y="34747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0D7377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223760" y="3474720"/>
            <a:ext cx="14173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377"/>
                </a:solidFill>
              </a:rPr>
              <a:t>Investors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77777"/>
                </a:solidFill>
              </a:rPr>
              <a:t>Buy tokenized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77777"/>
                </a:solidFill>
              </a:rPr>
              <a:t>loans directly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7200" y="26974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Eliminated:  Warehouse  /  Investment bank  /  Rating agency  /  SPV / Trustee  /  Servicer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Company filings, Figure S-1, Bernstein analysis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192024"/>
            <a:ext cx="84559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b="1" kern="0" spc="75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TECHNOLOGY SOLUTIONS (FIGR)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900" y="397764"/>
            <a:ext cx="84559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575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TOKENIZATION WORKFLOW: ORIGINATION TO SERVICING ON PROVENANCE</a:t>
            </a:r>
            <a:endParaRPr lang="en-US" sz="15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2900" y="740664"/>
            <a:ext cx="845591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863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Six-stage pipeline: a loan is originated off-chain, tokenized on Provenance, custodied in the originator's wallet, drawn against for warehouse funding, sold to an investor, and serviced with cash flows reflected on-chain.</a:t>
            </a:r>
            <a:endParaRPr lang="en-US" sz="8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42900" y="1179576"/>
            <a:ext cx="1152144" cy="243459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101600" dist="38100" dir="5400000" algn="bl" rotWithShape="0">
              <a:srgbClr val="0F1B3C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2084" y="1357884"/>
            <a:ext cx="493776" cy="493776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22" y="1433322"/>
            <a:ext cx="342900" cy="342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2900" y="1920240"/>
            <a:ext cx="115214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675" b="1" kern="0" spc="113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6"/>
          <p:cNvSpPr/>
          <p:nvPr/>
        </p:nvSpPr>
        <p:spPr>
          <a:xfrm>
            <a:off x="411480" y="2071116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>
              <a:lnSpc>
                <a:spcPct val="105000"/>
              </a:lnSpc>
            </a:pPr>
            <a:r>
              <a:rPr lang="en-US" sz="938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ORIGINATION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>
              <a:lnSpc>
                <a:spcPct val="105000"/>
              </a:lnSpc>
            </a:pPr>
            <a:r>
              <a:rPr lang="en-US" sz="938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(OFF-CHAIN)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38912" y="2482596"/>
            <a:ext cx="960120" cy="1172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lnSpc>
                <a:spcPct val="113000"/>
              </a:lnSpc>
            </a:pPr>
            <a:r>
              <a:rPr lang="en-US" sz="675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Figure's LOS underwrites and funds the loan (HELOC, DSCR, personal, etc.) through standard borrower application and closing.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508760" y="2300859"/>
            <a:ext cx="33604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858518" y="1179576"/>
            <a:ext cx="1152144" cy="243459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101600" dist="38100" dir="5400000" algn="bl" rotWithShape="0">
              <a:srgbClr val="0F1B3C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187702" y="1357884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3140" y="1433322"/>
            <a:ext cx="342900" cy="342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858518" y="1920240"/>
            <a:ext cx="115214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675" b="1" kern="0" spc="113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1927098" y="2071116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>
              <a:lnSpc>
                <a:spcPct val="105000"/>
              </a:lnSpc>
            </a:pPr>
            <a:r>
              <a:rPr lang="en-US" sz="938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ON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>
              <a:lnSpc>
                <a:spcPct val="105000"/>
              </a:lnSpc>
            </a:pPr>
            <a:r>
              <a:rPr lang="en-US" sz="938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954530" y="2482596"/>
            <a:ext cx="960120" cy="1172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lnSpc>
                <a:spcPct val="113000"/>
              </a:lnSpc>
            </a:pPr>
            <a:r>
              <a:rPr lang="en-US" sz="675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closed loan is minted as an eNote / digital asset on the Provenance blockchain; DART auto-registers lien and ownership data.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3024378" y="2300859"/>
            <a:ext cx="33604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3374136" y="1179576"/>
            <a:ext cx="1152144" cy="243459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101600" dist="38100" dir="5400000" algn="bl" rotWithShape="0">
              <a:srgbClr val="0F1B3C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703320" y="1357884"/>
            <a:ext cx="493776" cy="493776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8758" y="1433322"/>
            <a:ext cx="342900" cy="3429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374136" y="1920240"/>
            <a:ext cx="115214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675" b="1" kern="0" spc="113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3442716" y="2071116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>
              <a:lnSpc>
                <a:spcPct val="105000"/>
              </a:lnSpc>
            </a:pPr>
            <a:r>
              <a:rPr lang="en-US" sz="938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ORIGINATOR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>
              <a:lnSpc>
                <a:spcPct val="105000"/>
              </a:lnSpc>
            </a:pPr>
            <a:r>
              <a:rPr lang="en-US" sz="938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3470148" y="2482596"/>
            <a:ext cx="960120" cy="1172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lnSpc>
                <a:spcPct val="113000"/>
              </a:lnSpc>
            </a:pPr>
            <a:r>
              <a:rPr lang="en-US" sz="675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token settles into the originating partner's on-chain wallet, establishing on-chain custody and provable ownership.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4539996" y="2300859"/>
            <a:ext cx="33604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4889754" y="1179576"/>
            <a:ext cx="1152144" cy="243459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101600" dist="38100" dir="5400000" algn="bl" rotWithShape="0">
              <a:srgbClr val="0F1B3C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218938" y="1357884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4376" y="1433322"/>
            <a:ext cx="342900" cy="3429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889754" y="1920240"/>
            <a:ext cx="115214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675" b="1" kern="0" spc="113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4958334" y="2071116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>
              <a:lnSpc>
                <a:spcPct val="105000"/>
              </a:lnSpc>
            </a:pPr>
            <a:r>
              <a:rPr lang="en-US" sz="938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WAREHOUSING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4985766" y="2482596"/>
            <a:ext cx="960120" cy="1172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lnSpc>
                <a:spcPct val="113000"/>
              </a:lnSpc>
            </a:pPr>
            <a:r>
              <a:rPr lang="en-US" sz="675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tokenized loan is pledged as collateral on Democratized Prime, drawing warehouse funding priced hourly by market bid.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6055614" y="2300859"/>
            <a:ext cx="33604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27"/>
          <p:cNvSpPr/>
          <p:nvPr/>
        </p:nvSpPr>
        <p:spPr>
          <a:xfrm>
            <a:off x="6405372" y="1179576"/>
            <a:ext cx="1152144" cy="243459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101600" dist="38100" dir="5400000" algn="bl" rotWithShape="0">
              <a:srgbClr val="0F1B3C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6734556" y="1357884"/>
            <a:ext cx="493776" cy="493776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9994" y="1433322"/>
            <a:ext cx="342900" cy="3429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405372" y="1920240"/>
            <a:ext cx="115214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675" b="1" kern="0" spc="113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0"/>
          <p:cNvSpPr/>
          <p:nvPr/>
        </p:nvSpPr>
        <p:spPr>
          <a:xfrm>
            <a:off x="6473952" y="2071116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>
              <a:lnSpc>
                <a:spcPct val="105000"/>
              </a:lnSpc>
            </a:pPr>
            <a:r>
              <a:rPr lang="en-US" sz="938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1"/>
          <p:cNvSpPr/>
          <p:nvPr/>
        </p:nvSpPr>
        <p:spPr>
          <a:xfrm>
            <a:off x="6501384" y="2482596"/>
            <a:ext cx="960120" cy="1172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lnSpc>
                <a:spcPct val="113000"/>
              </a:lnSpc>
            </a:pPr>
            <a:r>
              <a:rPr lang="en-US" sz="675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loan is sold or traded to an institutional or retail investor via Figure Connect; DART updates on-chain ownership in real time.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2"/>
          <p:cNvSpPr/>
          <p:nvPr/>
        </p:nvSpPr>
        <p:spPr>
          <a:xfrm>
            <a:off x="7571232" y="2300859"/>
            <a:ext cx="33604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3"/>
          <p:cNvSpPr/>
          <p:nvPr/>
        </p:nvSpPr>
        <p:spPr>
          <a:xfrm>
            <a:off x="7920990" y="1179576"/>
            <a:ext cx="1152144" cy="243459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101600" dist="38100" dir="5400000" algn="bl" rotWithShape="0">
              <a:srgbClr val="0F1B3C">
                <a:alpha val="1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8250174" y="1357884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5612" y="1433322"/>
            <a:ext cx="342900" cy="34290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7920990" y="1920240"/>
            <a:ext cx="115214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675" b="1" kern="0" spc="113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36"/>
          <p:cNvSpPr/>
          <p:nvPr/>
        </p:nvSpPr>
        <p:spPr>
          <a:xfrm>
            <a:off x="7989570" y="2071116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>
              <a:lnSpc>
                <a:spcPct val="105000"/>
              </a:lnSpc>
            </a:pPr>
            <a:r>
              <a:rPr lang="en-US" sz="938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SERVICING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37"/>
          <p:cNvSpPr/>
          <p:nvPr/>
        </p:nvSpPr>
        <p:spPr>
          <a:xfrm>
            <a:off x="8017002" y="2482596"/>
            <a:ext cx="960120" cy="1172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lnSpc>
                <a:spcPct val="113000"/>
              </a:lnSpc>
            </a:pPr>
            <a:r>
              <a:rPr lang="en-US" sz="675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performance and cash flows are posted on-chain; servicing rights remain transferable without re-papering the loan.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38"/>
          <p:cNvSpPr/>
          <p:nvPr/>
        </p:nvSpPr>
        <p:spPr>
          <a:xfrm>
            <a:off x="342900" y="3737610"/>
            <a:ext cx="84559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88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is the sole system of record across DART, Figure Connect, and the LOS: warehouse capital recycles into new originations, and servicing updates write back to the on-chain ownership record without manual re-registration.</a:t>
            </a:r>
            <a:endParaRPr lang="en-US" sz="7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342900" y="4896612"/>
            <a:ext cx="845591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Figure Technology Solutions SEC Form 424B4 (figure-blockchain424b4.htm); Provenance Blockchain Foundation (provenance.io); DART Inc. (dartinc.io); Figure Markets (figuremarkets.com).</a:t>
            </a:r>
            <a:endParaRPr lang="en-US" sz="56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192024"/>
            <a:ext cx="84559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b="1" kern="0" spc="75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TECHNOLOGY SOLUTIONS (FIGR)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900" y="397764"/>
            <a:ext cx="84559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575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DART: THE ELECTRONIC LIEN AND eNOTE REGISTRY, HOW IT WORKS</a:t>
            </a:r>
            <a:endParaRPr lang="en-US" sz="15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2900" y="740664"/>
            <a:ext cx="845591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863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(Digital Asset Registration Technologies) is Figure's blockchain-based replacement for MERS: it listens to Provenance blockchain activity and automatically updates loan ownership and lien records in real time.</a:t>
            </a:r>
            <a:endParaRPr lang="en-US" sz="8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42900" y="1152144"/>
            <a:ext cx="1906524" cy="202311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101600" dist="38100" dir="5400000" algn="bl" rotWithShape="0">
              <a:srgbClr val="0F1B3C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9274" y="1330452"/>
            <a:ext cx="493776" cy="493776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1405890"/>
            <a:ext cx="342900" cy="342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2900" y="1892808"/>
            <a:ext cx="190652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675" b="1" kern="0" spc="113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6"/>
          <p:cNvSpPr/>
          <p:nvPr/>
        </p:nvSpPr>
        <p:spPr>
          <a:xfrm>
            <a:off x="411480" y="2043684"/>
            <a:ext cx="17693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>
              <a:lnSpc>
                <a:spcPct val="105000"/>
              </a:lnSpc>
            </a:pPr>
            <a:r>
              <a:rPr lang="en-US" sz="938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CLOSES,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>
              <a:lnSpc>
                <a:spcPct val="105000"/>
              </a:lnSpc>
            </a:pPr>
            <a:r>
              <a:rPr lang="en-US" sz="938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eNOTE CREATED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38912" y="2455164"/>
            <a:ext cx="1714500" cy="761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lnSpc>
                <a:spcPct val="113000"/>
              </a:lnSpc>
            </a:pPr>
            <a:r>
              <a:rPr lang="en-US" sz="675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loan closes through Figure's LOS. The promissory note is generated as a SMART eNote, a digital transferable record built to ESIGN/UETA legal standards.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263140" y="2067687"/>
            <a:ext cx="26060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537460" y="1152144"/>
            <a:ext cx="1906524" cy="202311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101600" dist="38100" dir="5400000" algn="bl" rotWithShape="0">
              <a:srgbClr val="0F1B3C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3834" y="1330452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405890"/>
            <a:ext cx="342900" cy="342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37460" y="1892808"/>
            <a:ext cx="190652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675" b="1" kern="0" spc="113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2606040" y="2043684"/>
            <a:ext cx="17693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>
              <a:lnSpc>
                <a:spcPct val="105000"/>
              </a:lnSpc>
            </a:pPr>
            <a:r>
              <a:rPr lang="en-US" sz="938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>
              <a:lnSpc>
                <a:spcPct val="105000"/>
              </a:lnSpc>
            </a:pPr>
            <a:r>
              <a:rPr lang="en-US" sz="938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2633472" y="2455164"/>
            <a:ext cx="1714500" cy="761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lnSpc>
                <a:spcPct val="113000"/>
              </a:lnSpc>
            </a:pPr>
            <a:r>
              <a:rPr lang="en-US" sz="675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eNote and lien data are onboarded as a unique digital asset on Provenance Blockchain and auto-registered with DART; the loan is also recorded in county land records.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457700" y="2067687"/>
            <a:ext cx="26060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4732020" y="1152144"/>
            <a:ext cx="1906524" cy="202311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101600" dist="38100" dir="5400000" algn="bl" rotWithShape="0">
              <a:srgbClr val="0F1B3C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438394" y="1330452"/>
            <a:ext cx="493776" cy="493776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832" y="1405890"/>
            <a:ext cx="342900" cy="3429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32020" y="1892808"/>
            <a:ext cx="190652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675" b="1" kern="0" spc="113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4800600" y="2043684"/>
            <a:ext cx="17693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>
              <a:lnSpc>
                <a:spcPct val="105000"/>
              </a:lnSpc>
            </a:pPr>
            <a:r>
              <a:rPr lang="en-US" sz="938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“LISTENS”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>
              <a:lnSpc>
                <a:spcPct val="105000"/>
              </a:lnSpc>
            </a:pPr>
            <a:r>
              <a:rPr lang="en-US" sz="938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CHAIN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4828032" y="2455164"/>
            <a:ext cx="1714500" cy="761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lnSpc>
                <a:spcPct val="113000"/>
              </a:lnSpc>
            </a:pPr>
            <a:r>
              <a:rPr lang="en-US" sz="675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is a hybrid overlay system that continuously monitors Provenance for blockchain-based transfers, pledges, and sales of the underlying loan token.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6652260" y="2067687"/>
            <a:ext cx="26060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6926580" y="1152144"/>
            <a:ext cx="1906524" cy="202311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101600" dist="38100" dir="5400000" algn="bl" rotWithShape="0">
              <a:srgbClr val="0F1B3C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632954" y="1330452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392" y="1405890"/>
            <a:ext cx="342900" cy="3429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26580" y="1892808"/>
            <a:ext cx="190652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675" b="1" kern="0" spc="113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6995160" y="2043684"/>
            <a:ext cx="17693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>
              <a:lnSpc>
                <a:spcPct val="105000"/>
              </a:lnSpc>
            </a:pPr>
            <a:r>
              <a:rPr lang="en-US" sz="938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>
              <a:lnSpc>
                <a:spcPct val="105000"/>
              </a:lnSpc>
            </a:pPr>
            <a:r>
              <a:rPr lang="en-US" sz="938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UPDATE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7022592" y="2455164"/>
            <a:ext cx="1714500" cy="761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lnSpc>
                <a:spcPct val="113000"/>
              </a:lnSpc>
            </a:pPr>
            <a:r>
              <a:rPr lang="en-US" sz="675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token moves, DART automatically updates legal ownership and lien records, replacing weeks-long manual MERS assignments with a minutes-long automated process.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342900" y="3394710"/>
            <a:ext cx="8455914" cy="754380"/>
          </a:xfrm>
          <a:prstGeom prst="roundRect">
            <a:avLst>
              <a:gd name="adj" fmla="val 5455"/>
            </a:avLst>
          </a:prstGeom>
          <a:solidFill>
            <a:srgbClr val="0F1B3C"/>
          </a:solidFill>
          <a:ln/>
        </p:spPr>
      </p:sp>
      <p:sp>
        <p:nvSpPr>
          <p:cNvPr id="33" name="Text 27"/>
          <p:cNvSpPr/>
          <p:nvPr/>
        </p:nvSpPr>
        <p:spPr>
          <a:xfrm>
            <a:off x="445770" y="3477006"/>
            <a:ext cx="1908239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5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28"/>
          <p:cNvSpPr/>
          <p:nvPr/>
        </p:nvSpPr>
        <p:spPr>
          <a:xfrm>
            <a:off x="445770" y="3765042"/>
            <a:ext cx="19082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lnSpc>
                <a:spcPct val="110000"/>
              </a:lnSpc>
            </a:pPr>
            <a:r>
              <a:rPr lang="en-US" sz="638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loans in Figure's ecosystem originate as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0000"/>
              </a:lnSpc>
            </a:pPr>
            <a:r>
              <a:rPr lang="en-US" sz="638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loans (as of March 2025)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29"/>
          <p:cNvSpPr/>
          <p:nvPr/>
        </p:nvSpPr>
        <p:spPr>
          <a:xfrm>
            <a:off x="2456879" y="3497580"/>
            <a:ext cx="0" cy="54864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2559748" y="3477006"/>
            <a:ext cx="1908239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5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1"/>
          <p:cNvSpPr/>
          <p:nvPr/>
        </p:nvSpPr>
        <p:spPr>
          <a:xfrm>
            <a:off x="2559748" y="3765042"/>
            <a:ext cx="19082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lnSpc>
                <a:spcPct val="110000"/>
              </a:lnSpc>
            </a:pPr>
            <a:r>
              <a:rPr lang="en-US" sz="638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LOS-originated loans onboarded to DART,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0000"/>
              </a:lnSpc>
            </a:pPr>
            <a:r>
              <a:rPr lang="en-US" sz="638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 ended June 30, 2025 (up from 2% FY24)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2"/>
          <p:cNvSpPr/>
          <p:nvPr/>
        </p:nvSpPr>
        <p:spPr>
          <a:xfrm>
            <a:off x="4570857" y="3497580"/>
            <a:ext cx="0" cy="54864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4673727" y="3477006"/>
            <a:ext cx="1908239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5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 2024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4"/>
          <p:cNvSpPr/>
          <p:nvPr/>
        </p:nvSpPr>
        <p:spPr>
          <a:xfrm>
            <a:off x="4673727" y="3765042"/>
            <a:ext cx="19082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lnSpc>
                <a:spcPct val="110000"/>
              </a:lnSpc>
            </a:pPr>
            <a:r>
              <a:rPr lang="en-US" sz="638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launch date; rolled out to lending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0000"/>
              </a:lnSpc>
            </a:pPr>
            <a:r>
              <a:rPr lang="en-US" sz="638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after prior Figure/Apollo pilot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35"/>
          <p:cNvSpPr/>
          <p:nvPr/>
        </p:nvSpPr>
        <p:spPr>
          <a:xfrm>
            <a:off x="6684836" y="3497580"/>
            <a:ext cx="0" cy="54864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6787705" y="3477006"/>
            <a:ext cx="1908239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5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&lt;$0.03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37"/>
          <p:cNvSpPr/>
          <p:nvPr/>
        </p:nvSpPr>
        <p:spPr>
          <a:xfrm>
            <a:off x="6787705" y="3765042"/>
            <a:ext cx="19082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lnSpc>
                <a:spcPct val="110000"/>
              </a:lnSpc>
            </a:pPr>
            <a:r>
              <a:rPr lang="en-US" sz="638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Provenance gas fee per transaction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0000"/>
              </a:lnSpc>
            </a:pPr>
            <a:r>
              <a:rPr lang="en-US" sz="638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(&lt;1 HASH, as of September 30, 2025)</a:t>
            </a:r>
            <a:endParaRPr lang="en-US" sz="6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38"/>
          <p:cNvSpPr/>
          <p:nvPr/>
        </p:nvSpPr>
        <p:spPr>
          <a:xfrm>
            <a:off x="342900" y="4258818"/>
            <a:ext cx="84559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88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design: DART is built on the ESIGN and UETA transferable-records framework, so the party controlling the on-chain token is the legal holder of the eNote — enforceable ownership, including in foreclosure, without a paper original.</a:t>
            </a:r>
            <a:endParaRPr lang="en-US" sz="7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39"/>
          <p:cNvSpPr/>
          <p:nvPr/>
        </p:nvSpPr>
        <p:spPr>
          <a:xfrm>
            <a:off x="342900" y="4896612"/>
            <a:ext cx="845591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Figure Technology Solutions SEC Form 10-Q, filed Nov 2025 (sec.gov/Archives/edgar/data/2064124); Figure/DART press release, “Figure’s DART Lien Registry Attracts Major Partners,” Mar 5 2025 (investors.figure.com); DART Inc. (dartinc.io); Provenance Blockchain Foundation, “What is DART?” (medium.com/provenanceblockchain).</a:t>
            </a:r>
            <a:endParaRPr lang="en-US" sz="56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895</Words>
  <Application>Microsoft Office PowerPoint</Application>
  <PresentationFormat>On-screen Show (16:9)</PresentationFormat>
  <Paragraphs>170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Equity Tokenization Exhibits</dc:title>
  <dc:subject>PptxGenJS Presentation</dc:subject>
  <dc:creator>Bernstein</dc:creator>
  <cp:lastModifiedBy>Sanskar Chindalia</cp:lastModifiedBy>
  <cp:revision>2</cp:revision>
  <dcterms:created xsi:type="dcterms:W3CDTF">2026-06-30T14:47:48Z</dcterms:created>
  <dcterms:modified xsi:type="dcterms:W3CDTF">2026-07-01T09:33:24Z</dcterms:modified>
</cp:coreProperties>
</file>