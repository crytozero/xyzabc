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Exhibit: tokenization benefits by stakeholder. Issuer case is registry and engagement; investor case is programmability and 24/7 access; market-structure case is settlement and reconciliation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F5C"/>
          </a:solidFill>
          <a:ln w="12700">
            <a:solidFill>
              <a:srgbClr val="1B2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benefits issuers, investors, and market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547872" cy="4937760"/>
          </a:xfrm>
          <a:prstGeom prst="roundRect">
            <a:avLst>
              <a:gd name="adj" fmla="val 3093"/>
            </a:avLst>
          </a:prstGeom>
          <a:solidFill>
            <a:srgbClr val="F4F6F8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1B2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ISSUERS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5400000">
            <a:off x="731520" y="1970532"/>
            <a:ext cx="100584" cy="100584"/>
          </a:xfrm>
          <a:prstGeom prst="triangle">
            <a:avLst/>
          </a:prstGeom>
          <a:solidFill>
            <a:srgbClr val="3D5480"/>
          </a:solidFill>
          <a:ln w="12700">
            <a:solidFill>
              <a:srgbClr val="3D54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920240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Heightened investor engagement through programmable corporate actions like shareholder rewards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 rot="5400000">
            <a:off x="731520" y="2884932"/>
            <a:ext cx="100584" cy="100584"/>
          </a:xfrm>
          <a:prstGeom prst="triangle">
            <a:avLst/>
          </a:prstGeom>
          <a:solidFill>
            <a:srgbClr val="3D5480"/>
          </a:solidFill>
          <a:ln w="12700">
            <a:solidFill>
              <a:srgbClr val="3D54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834640"/>
            <a:ext cx="2816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shares with automated corporate actions and embedded compliance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5400000">
            <a:off x="731520" y="3662172"/>
            <a:ext cx="100584" cy="100584"/>
          </a:xfrm>
          <a:prstGeom prst="triangle">
            <a:avLst/>
          </a:prstGeom>
          <a:solidFill>
            <a:srgbClr val="3D5480"/>
          </a:solidFill>
          <a:ln w="12700">
            <a:solidFill>
              <a:srgbClr val="3D54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61188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 registry transparency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rot="5400000">
            <a:off x="731520" y="4256532"/>
            <a:ext cx="100584" cy="100584"/>
          </a:xfrm>
          <a:prstGeom prst="triangle">
            <a:avLst/>
          </a:prstGeom>
          <a:solidFill>
            <a:srgbClr val="3D5480"/>
          </a:solidFill>
          <a:ln w="12700">
            <a:solidFill>
              <a:srgbClr val="3D54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20624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pockets of (24/7) liquidity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7512" y="4937760"/>
            <a:ext cx="3218688" cy="932688"/>
          </a:xfrm>
          <a:prstGeom prst="roundRect">
            <a:avLst>
              <a:gd name="adj" fmla="val 7843"/>
            </a:avLst>
          </a:prstGeom>
          <a:solidFill>
            <a:srgbClr val="E9EFF7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" y="506577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B2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 real-time register of your named shareholder base, communicate with this group, and incentivize continued engagement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25112" y="1143000"/>
            <a:ext cx="3547872" cy="4937760"/>
          </a:xfrm>
          <a:prstGeom prst="roundRect">
            <a:avLst>
              <a:gd name="adj" fmla="val 3093"/>
            </a:avLst>
          </a:prstGeom>
          <a:solidFill>
            <a:srgbClr val="F4F6F8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3712" y="134416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1B2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553712" y="1970532"/>
            <a:ext cx="100584" cy="100584"/>
          </a:xfrm>
          <a:prstGeom prst="triangle">
            <a:avLst/>
          </a:prstGeom>
          <a:solidFill>
            <a:srgbClr val="3D5480"/>
          </a:solidFill>
          <a:ln w="12700">
            <a:solidFill>
              <a:srgbClr val="3D54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28032" y="192024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 rewards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rot="5400000">
            <a:off x="4553712" y="2656332"/>
            <a:ext cx="100584" cy="100584"/>
          </a:xfrm>
          <a:prstGeom prst="triangle">
            <a:avLst/>
          </a:prstGeom>
          <a:solidFill>
            <a:srgbClr val="3D5480"/>
          </a:solidFill>
          <a:ln w="12700">
            <a:solidFill>
              <a:srgbClr val="3D54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260604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ownership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rot="5400000">
            <a:off x="4553712" y="3342132"/>
            <a:ext cx="100584" cy="100584"/>
          </a:xfrm>
          <a:prstGeom prst="triangle">
            <a:avLst/>
          </a:prstGeom>
          <a:solidFill>
            <a:srgbClr val="3D5480"/>
          </a:solidFill>
          <a:ln w="12700">
            <a:solidFill>
              <a:srgbClr val="3D54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28032" y="329184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mobility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 rot="5400000">
            <a:off x="4553712" y="4027932"/>
            <a:ext cx="100584" cy="100584"/>
          </a:xfrm>
          <a:prstGeom prst="triangle">
            <a:avLst/>
          </a:prstGeom>
          <a:solidFill>
            <a:srgbClr val="3D5480"/>
          </a:solidFill>
          <a:ln w="12700">
            <a:solidFill>
              <a:srgbClr val="3D54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28032" y="397764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trading and price discovery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89704" y="4937760"/>
            <a:ext cx="3218688" cy="932688"/>
          </a:xfrm>
          <a:prstGeom prst="roundRect">
            <a:avLst>
              <a:gd name="adj" fmla="val 7843"/>
            </a:avLst>
          </a:prstGeom>
          <a:solidFill>
            <a:srgbClr val="E9EFF7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36008" y="506577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B2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incremental rewards, including discounts, tickets, or points from issuers for shares held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47304" y="1143000"/>
            <a:ext cx="3547872" cy="4937760"/>
          </a:xfrm>
          <a:prstGeom prst="roundRect">
            <a:avLst>
              <a:gd name="adj" fmla="val 3093"/>
            </a:avLst>
          </a:prstGeom>
          <a:solidFill>
            <a:srgbClr val="F4F6F8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75904" y="134416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1B2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MARKET STRUCTURE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rot="5400000">
            <a:off x="8375904" y="1970532"/>
            <a:ext cx="100584" cy="100584"/>
          </a:xfrm>
          <a:prstGeom prst="triangle">
            <a:avLst/>
          </a:prstGeom>
          <a:solidFill>
            <a:srgbClr val="3D5480"/>
          </a:solidFill>
          <a:ln w="12700">
            <a:solidFill>
              <a:srgbClr val="3D54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50224" y="1920240"/>
            <a:ext cx="2816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settlement &amp; real-time corporate actions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 rot="5400000">
            <a:off x="8375904" y="2747772"/>
            <a:ext cx="100584" cy="100584"/>
          </a:xfrm>
          <a:prstGeom prst="triangle">
            <a:avLst/>
          </a:prstGeom>
          <a:solidFill>
            <a:srgbClr val="3D5480"/>
          </a:solidFill>
          <a:ln w="12700">
            <a:solidFill>
              <a:srgbClr val="3D548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50224" y="269748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intermediaries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 rot="5400000">
            <a:off x="8375904" y="3433572"/>
            <a:ext cx="100584" cy="100584"/>
          </a:xfrm>
          <a:prstGeom prst="triangle">
            <a:avLst/>
          </a:prstGeom>
          <a:solidFill>
            <a:srgbClr val="3D5480"/>
          </a:solidFill>
          <a:ln w="12700">
            <a:solidFill>
              <a:srgbClr val="3D548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50224" y="338328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capital efficiency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rot="5400000">
            <a:off x="8375904" y="4119372"/>
            <a:ext cx="100584" cy="100584"/>
          </a:xfrm>
          <a:prstGeom prst="triangle">
            <a:avLst/>
          </a:prstGeom>
          <a:solidFill>
            <a:srgbClr val="3D5480"/>
          </a:solidFill>
          <a:ln w="12700">
            <a:solidFill>
              <a:srgbClr val="3D548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50224" y="406908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311896" y="4937760"/>
            <a:ext cx="3218688" cy="932688"/>
          </a:xfrm>
          <a:prstGeom prst="roundRect">
            <a:avLst>
              <a:gd name="adj" fmla="val 7843"/>
            </a:avLst>
          </a:prstGeom>
          <a:solidFill>
            <a:srgbClr val="E9EFF7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458200" y="506577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B2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 split runs once and propagates to every holder automatically, with no cross-intermediary reconciliation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6263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Bernstein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2026-08-27T08:48:26Z</dcterms:created>
  <dcterms:modified xsi:type="dcterms:W3CDTF">2026-08-27T08:48:26Z</dcterms:modified>
</cp:coreProperties>
</file>