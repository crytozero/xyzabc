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640080"/>
          </a:xfrm>
          <a:prstGeom prst="rect">
            <a:avLst/>
          </a:prstGeom>
          <a:noFill/>
          <a:ln/>
        </p:spPr>
        <p:txBody>
          <a:bodyPr wrap="square" lIns="0" tIns="0" rIns="0" bIns="0"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Deciphering Tokenization of Real World Assets</a:t>
            </a:r>
            <a:endParaRPr lang="en-US" sz="2800" dirty="0"/>
          </a:p>
        </p:txBody>
      </p:sp>
      <p:sp>
        <p:nvSpPr>
          <p:cNvPr id="3" name="Text 1"/>
          <p:cNvSpPr/>
          <p:nvPr/>
        </p:nvSpPr>
        <p:spPr>
          <a:xfrm>
            <a:off x="640080" y="914400"/>
            <a:ext cx="78638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Three foundational concepts underpinning the tokenized asset ecosystem</a:t>
            </a:r>
            <a:endParaRPr lang="en-US" sz="1300" dirty="0"/>
          </a:p>
        </p:txBody>
      </p:sp>
      <p:sp>
        <p:nvSpPr>
          <p:cNvPr id="4" name="Shape 2"/>
          <p:cNvSpPr/>
          <p:nvPr/>
        </p:nvSpPr>
        <p:spPr>
          <a:xfrm>
            <a:off x="457200" y="1508760"/>
            <a:ext cx="2468880" cy="2926080"/>
          </a:xfrm>
          <a:prstGeom prst="roundRect">
            <a:avLst>
              <a:gd name="adj" fmla="val 5556"/>
            </a:avLst>
          </a:prstGeom>
          <a:solidFill>
            <a:srgbClr val="F0FDFA"/>
          </a:solidFill>
          <a:ln/>
          <a:effectLst>
            <a:outerShdw sx="100000" sy="100000" kx="0" ky="0" algn="bl" rotWithShape="0" blurRad="76200" dist="25400" dir="2700000">
              <a:srgbClr val="000000">
                <a:alpha val="10000"/>
              </a:srgbClr>
            </a:outerShdw>
          </a:effectLst>
        </p:spPr>
      </p:sp>
      <p:sp>
        <p:nvSpPr>
          <p:cNvPr id="5" name="Shape 3"/>
          <p:cNvSpPr/>
          <p:nvPr/>
        </p:nvSpPr>
        <p:spPr>
          <a:xfrm>
            <a:off x="1371600" y="1783080"/>
            <a:ext cx="640080" cy="64008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485900" y="1892808"/>
            <a:ext cx="411480" cy="411480"/>
          </a:xfrm>
          <a:prstGeom prst="rect">
            <a:avLst/>
          </a:prstGeom>
        </p:spPr>
      </p:pic>
      <p:sp>
        <p:nvSpPr>
          <p:cNvPr id="7" name="Text 4"/>
          <p:cNvSpPr/>
          <p:nvPr/>
        </p:nvSpPr>
        <p:spPr>
          <a:xfrm>
            <a:off x="594360" y="2560320"/>
            <a:ext cx="2194560" cy="411480"/>
          </a:xfrm>
          <a:prstGeom prst="rect">
            <a:avLst/>
          </a:prstGeom>
          <a:noFill/>
          <a:ln/>
        </p:spPr>
        <p:txBody>
          <a:bodyPr wrap="square" lIns="0" tIns="0" rIns="0" bIns="0" rtlCol="0" anchor="ctr"/>
          <a:lstStyle/>
          <a:p>
            <a:pPr algn="ctr" indent="0" marL="0">
              <a:buNone/>
            </a:pPr>
            <a:r>
              <a:rPr lang="en-US" sz="1500" b="1" dirty="0">
                <a:solidFill>
                  <a:srgbClr val="0D9488"/>
                </a:solidFill>
                <a:latin typeface="Calibri" pitchFamily="34" charset="0"/>
                <a:ea typeface="Calibri" pitchFamily="34" charset="-122"/>
                <a:cs typeface="Calibri" pitchFamily="34" charset="-120"/>
              </a:rPr>
              <a:t>Real World Assets</a:t>
            </a:r>
            <a:endParaRPr lang="en-US" sz="1500" dirty="0"/>
          </a:p>
        </p:txBody>
      </p:sp>
      <p:sp>
        <p:nvSpPr>
          <p:cNvPr id="8" name="Text 5"/>
          <p:cNvSpPr/>
          <p:nvPr/>
        </p:nvSpPr>
        <p:spPr>
          <a:xfrm>
            <a:off x="640080" y="2971800"/>
            <a:ext cx="2103120" cy="1280160"/>
          </a:xfrm>
          <a:prstGeom prst="rect">
            <a:avLst/>
          </a:prstGeom>
          <a:noFill/>
          <a:ln/>
        </p:spPr>
        <p:txBody>
          <a:bodyPr wrap="square" lIns="0" tIns="0" rIns="0" bIns="0" rtlCol="0" anchor="ctr"/>
          <a:lstStyle/>
          <a:p>
            <a:pPr algn="ctr" indent="0" marL="0">
              <a:lnSpc>
                <a:spcPct val="130000"/>
              </a:lnSpc>
              <a:buNone/>
            </a:pPr>
            <a:r>
              <a:rPr lang="en-US" sz="1100" dirty="0">
                <a:solidFill>
                  <a:srgbClr val="64748B"/>
                </a:solidFill>
                <a:latin typeface="Calibri" pitchFamily="34" charset="0"/>
                <a:ea typeface="Calibri" pitchFamily="34" charset="-122"/>
                <a:cs typeface="Calibri" pitchFamily="34" charset="-120"/>
              </a:rPr>
              <a:t>Tangible &amp; intangible assets</a:t>
            </a:r>
            <a:endParaRPr lang="en-US" sz="1100" dirty="0"/>
          </a:p>
          <a:p>
            <a:pPr algn="ctr" indent="0" marL="0">
              <a:lnSpc>
                <a:spcPct val="130000"/>
              </a:lnSpc>
              <a:buNone/>
            </a:pPr>
            <a:r>
              <a:rPr lang="en-US" sz="1100" dirty="0">
                <a:solidFill>
                  <a:srgbClr val="64748B"/>
                </a:solidFill>
                <a:latin typeface="Calibri" pitchFamily="34" charset="0"/>
                <a:ea typeface="Calibri" pitchFamily="34" charset="-122"/>
                <a:cs typeface="Calibri" pitchFamily="34" charset="-120"/>
              </a:rPr>
              <a:t>existing outside blockchain:</a:t>
            </a:r>
            <a:endParaRPr lang="en-US" sz="1100" dirty="0"/>
          </a:p>
          <a:p>
            <a:pPr algn="ctr" indent="0" marL="0">
              <a:lnSpc>
                <a:spcPct val="130000"/>
              </a:lnSpc>
              <a:buNone/>
            </a:pPr>
            <a:r>
              <a:rPr lang="en-US" sz="1100" dirty="0">
                <a:solidFill>
                  <a:srgbClr val="64748B"/>
                </a:solidFill>
                <a:latin typeface="Calibri" pitchFamily="34" charset="0"/>
                <a:ea typeface="Calibri" pitchFamily="34" charset="-122"/>
                <a:cs typeface="Calibri" pitchFamily="34" charset="-120"/>
              </a:rPr>
              <a:t>real estate, equities, bonds,</a:t>
            </a:r>
            <a:endParaRPr lang="en-US" sz="1100" dirty="0"/>
          </a:p>
          <a:p>
            <a:pPr algn="ctr" indent="0" marL="0">
              <a:lnSpc>
                <a:spcPct val="130000"/>
              </a:lnSpc>
              <a:buNone/>
            </a:pPr>
            <a:r>
              <a:rPr lang="en-US" sz="1100" dirty="0">
                <a:solidFill>
                  <a:srgbClr val="64748B"/>
                </a:solidFill>
                <a:latin typeface="Calibri" pitchFamily="34" charset="0"/>
                <a:ea typeface="Calibri" pitchFamily="34" charset="-122"/>
                <a:cs typeface="Calibri" pitchFamily="34" charset="-120"/>
              </a:rPr>
              <a:t>commodities, art, IP, private</a:t>
            </a:r>
            <a:endParaRPr lang="en-US" sz="1100" dirty="0"/>
          </a:p>
          <a:p>
            <a:pPr algn="ctr" indent="0" marL="0">
              <a:lnSpc>
                <a:spcPct val="130000"/>
              </a:lnSpc>
              <a:buNone/>
            </a:pPr>
            <a:r>
              <a:rPr lang="en-US" sz="1100" dirty="0">
                <a:solidFill>
                  <a:srgbClr val="64748B"/>
                </a:solidFill>
                <a:latin typeface="Calibri" pitchFamily="34" charset="0"/>
                <a:ea typeface="Calibri" pitchFamily="34" charset="-122"/>
                <a:cs typeface="Calibri" pitchFamily="34" charset="-120"/>
              </a:rPr>
              <a:t>credit, fund interests</a:t>
            </a:r>
            <a:endParaRPr lang="en-US" sz="1100" dirty="0"/>
          </a:p>
        </p:txBody>
      </p:sp>
      <p:sp>
        <p:nvSpPr>
          <p:cNvPr id="9" name="Shape 6"/>
          <p:cNvSpPr/>
          <p:nvPr/>
        </p:nvSpPr>
        <p:spPr>
          <a:xfrm>
            <a:off x="3337560" y="1508760"/>
            <a:ext cx="2468880" cy="2926080"/>
          </a:xfrm>
          <a:prstGeom prst="roundRect">
            <a:avLst>
              <a:gd name="adj" fmla="val 5556"/>
            </a:avLst>
          </a:prstGeom>
          <a:solidFill>
            <a:srgbClr val="EFF6FF"/>
          </a:solidFill>
          <a:ln/>
          <a:effectLst>
            <a:outerShdw sx="100000" sy="100000" kx="0" ky="0" algn="bl" rotWithShape="0" blurRad="76200" dist="25400" dir="2700000">
              <a:srgbClr val="000000">
                <a:alpha val="10000"/>
              </a:srgbClr>
            </a:outerShdw>
          </a:effectLst>
        </p:spPr>
      </p:sp>
      <p:sp>
        <p:nvSpPr>
          <p:cNvPr id="10" name="Shape 7"/>
          <p:cNvSpPr/>
          <p:nvPr/>
        </p:nvSpPr>
        <p:spPr>
          <a:xfrm>
            <a:off x="4251960" y="1783080"/>
            <a:ext cx="640080" cy="640080"/>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4366260" y="1892808"/>
            <a:ext cx="411480" cy="411480"/>
          </a:xfrm>
          <a:prstGeom prst="rect">
            <a:avLst/>
          </a:prstGeom>
        </p:spPr>
      </p:pic>
      <p:sp>
        <p:nvSpPr>
          <p:cNvPr id="12" name="Text 8"/>
          <p:cNvSpPr/>
          <p:nvPr/>
        </p:nvSpPr>
        <p:spPr>
          <a:xfrm>
            <a:off x="3474720" y="2560320"/>
            <a:ext cx="2194560" cy="411480"/>
          </a:xfrm>
          <a:prstGeom prst="rect">
            <a:avLst/>
          </a:prstGeom>
          <a:noFill/>
          <a:ln/>
        </p:spPr>
        <p:txBody>
          <a:bodyPr wrap="square" lIns="0" tIns="0" rIns="0" bIns="0" rtlCol="0" anchor="ctr"/>
          <a:lstStyle/>
          <a:p>
            <a:pPr algn="ctr" indent="0" marL="0">
              <a:buNone/>
            </a:pPr>
            <a:r>
              <a:rPr lang="en-US" sz="1500" b="1" dirty="0">
                <a:solidFill>
                  <a:srgbClr val="0D9488"/>
                </a:solidFill>
                <a:latin typeface="Calibri" pitchFamily="34" charset="0"/>
                <a:ea typeface="Calibri" pitchFamily="34" charset="-122"/>
                <a:cs typeface="Calibri" pitchFamily="34" charset="-120"/>
              </a:rPr>
              <a:t>Blockchain</a:t>
            </a:r>
            <a:endParaRPr lang="en-US" sz="1500" dirty="0"/>
          </a:p>
        </p:txBody>
      </p:sp>
      <p:sp>
        <p:nvSpPr>
          <p:cNvPr id="13" name="Text 9"/>
          <p:cNvSpPr/>
          <p:nvPr/>
        </p:nvSpPr>
        <p:spPr>
          <a:xfrm>
            <a:off x="3520440" y="2971800"/>
            <a:ext cx="2103120" cy="1280160"/>
          </a:xfrm>
          <a:prstGeom prst="rect">
            <a:avLst/>
          </a:prstGeom>
          <a:noFill/>
          <a:ln/>
        </p:spPr>
        <p:txBody>
          <a:bodyPr wrap="square" lIns="0" tIns="0" rIns="0" bIns="0" rtlCol="0" anchor="ctr"/>
          <a:lstStyle/>
          <a:p>
            <a:pPr algn="ctr" indent="0" marL="0">
              <a:lnSpc>
                <a:spcPct val="130000"/>
              </a:lnSpc>
              <a:buNone/>
            </a:pPr>
            <a:r>
              <a:rPr lang="en-US" sz="1100" dirty="0">
                <a:solidFill>
                  <a:srgbClr val="64748B"/>
                </a:solidFill>
                <a:latin typeface="Calibri" pitchFamily="34" charset="0"/>
                <a:ea typeface="Calibri" pitchFamily="34" charset="-122"/>
                <a:cs typeface="Calibri" pitchFamily="34" charset="-120"/>
              </a:rPr>
              <a:t>Distributed, immutable ledger</a:t>
            </a:r>
            <a:endParaRPr lang="en-US" sz="1100" dirty="0"/>
          </a:p>
          <a:p>
            <a:pPr algn="ctr" indent="0" marL="0">
              <a:lnSpc>
                <a:spcPct val="130000"/>
              </a:lnSpc>
              <a:buNone/>
            </a:pPr>
            <a:r>
              <a:rPr lang="en-US" sz="1100" dirty="0">
                <a:solidFill>
                  <a:srgbClr val="64748B"/>
                </a:solidFill>
                <a:latin typeface="Calibri" pitchFamily="34" charset="0"/>
                <a:ea typeface="Calibri" pitchFamily="34" charset="-122"/>
                <a:cs typeface="Calibri" pitchFamily="34" charset="-120"/>
              </a:rPr>
              <a:t>enabling programmable,</a:t>
            </a:r>
            <a:endParaRPr lang="en-US" sz="1100" dirty="0"/>
          </a:p>
          <a:p>
            <a:pPr algn="ctr" indent="0" marL="0">
              <a:lnSpc>
                <a:spcPct val="130000"/>
              </a:lnSpc>
              <a:buNone/>
            </a:pPr>
            <a:r>
              <a:rPr lang="en-US" sz="1100" dirty="0">
                <a:solidFill>
                  <a:srgbClr val="64748B"/>
                </a:solidFill>
                <a:latin typeface="Calibri" pitchFamily="34" charset="0"/>
                <a:ea typeface="Calibri" pitchFamily="34" charset="-122"/>
                <a:cs typeface="Calibri" pitchFamily="34" charset="-120"/>
              </a:rPr>
              <a:t>transparent, and auditable</a:t>
            </a:r>
            <a:endParaRPr lang="en-US" sz="1100" dirty="0"/>
          </a:p>
          <a:p>
            <a:pPr algn="ctr" indent="0" marL="0">
              <a:lnSpc>
                <a:spcPct val="130000"/>
              </a:lnSpc>
              <a:buNone/>
            </a:pPr>
            <a:r>
              <a:rPr lang="en-US" sz="1100" dirty="0">
                <a:solidFill>
                  <a:srgbClr val="64748B"/>
                </a:solidFill>
                <a:latin typeface="Calibri" pitchFamily="34" charset="0"/>
                <a:ea typeface="Calibri" pitchFamily="34" charset="-122"/>
                <a:cs typeface="Calibri" pitchFamily="34" charset="-120"/>
              </a:rPr>
              <a:t>record-keeping without</a:t>
            </a:r>
            <a:endParaRPr lang="en-US" sz="1100" dirty="0"/>
          </a:p>
          <a:p>
            <a:pPr algn="ctr" indent="0" marL="0">
              <a:lnSpc>
                <a:spcPct val="130000"/>
              </a:lnSpc>
              <a:buNone/>
            </a:pPr>
            <a:r>
              <a:rPr lang="en-US" sz="1100" dirty="0">
                <a:solidFill>
                  <a:srgbClr val="64748B"/>
                </a:solidFill>
                <a:latin typeface="Calibri" pitchFamily="34" charset="0"/>
                <a:ea typeface="Calibri" pitchFamily="34" charset="-122"/>
                <a:cs typeface="Calibri" pitchFamily="34" charset="-120"/>
              </a:rPr>
              <a:t>centralized intermediaries</a:t>
            </a:r>
            <a:endParaRPr lang="en-US" sz="1100" dirty="0"/>
          </a:p>
        </p:txBody>
      </p:sp>
      <p:sp>
        <p:nvSpPr>
          <p:cNvPr id="14" name="Shape 10"/>
          <p:cNvSpPr/>
          <p:nvPr/>
        </p:nvSpPr>
        <p:spPr>
          <a:xfrm>
            <a:off x="6217920" y="1508760"/>
            <a:ext cx="2468880" cy="2926080"/>
          </a:xfrm>
          <a:prstGeom prst="roundRect">
            <a:avLst>
              <a:gd name="adj" fmla="val 5556"/>
            </a:avLst>
          </a:prstGeom>
          <a:solidFill>
            <a:srgbClr val="F5F3FF"/>
          </a:solidFill>
          <a:ln/>
          <a:effectLst>
            <a:outerShdw sx="100000" sy="100000" kx="0" ky="0" algn="bl" rotWithShape="0" blurRad="76200" dist="25400" dir="2700000">
              <a:srgbClr val="000000">
                <a:alpha val="10000"/>
              </a:srgbClr>
            </a:outerShdw>
          </a:effectLst>
        </p:spPr>
      </p:sp>
      <p:sp>
        <p:nvSpPr>
          <p:cNvPr id="15" name="Shape 11"/>
          <p:cNvSpPr/>
          <p:nvPr/>
        </p:nvSpPr>
        <p:spPr>
          <a:xfrm>
            <a:off x="7132320" y="1783080"/>
            <a:ext cx="640080" cy="64008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7246620" y="1892808"/>
            <a:ext cx="411480" cy="411480"/>
          </a:xfrm>
          <a:prstGeom prst="rect">
            <a:avLst/>
          </a:prstGeom>
        </p:spPr>
      </p:pic>
      <p:sp>
        <p:nvSpPr>
          <p:cNvPr id="17" name="Text 12"/>
          <p:cNvSpPr/>
          <p:nvPr/>
        </p:nvSpPr>
        <p:spPr>
          <a:xfrm>
            <a:off x="6355080" y="2560320"/>
            <a:ext cx="2194560" cy="411480"/>
          </a:xfrm>
          <a:prstGeom prst="rect">
            <a:avLst/>
          </a:prstGeom>
          <a:noFill/>
          <a:ln/>
        </p:spPr>
        <p:txBody>
          <a:bodyPr wrap="square" lIns="0" tIns="0" rIns="0" bIns="0" rtlCol="0" anchor="ctr"/>
          <a:lstStyle/>
          <a:p>
            <a:pPr algn="ctr" indent="0" marL="0">
              <a:buNone/>
            </a:pPr>
            <a:r>
              <a:rPr lang="en-US" sz="1500" b="1" dirty="0">
                <a:solidFill>
                  <a:srgbClr val="0D9488"/>
                </a:solidFill>
                <a:latin typeface="Calibri" pitchFamily="34" charset="0"/>
                <a:ea typeface="Calibri" pitchFamily="34" charset="-122"/>
                <a:cs typeface="Calibri" pitchFamily="34" charset="-120"/>
              </a:rPr>
              <a:t>Tokenization</a:t>
            </a:r>
            <a:endParaRPr lang="en-US" sz="1500" dirty="0"/>
          </a:p>
        </p:txBody>
      </p:sp>
      <p:sp>
        <p:nvSpPr>
          <p:cNvPr id="18" name="Text 13"/>
          <p:cNvSpPr/>
          <p:nvPr/>
        </p:nvSpPr>
        <p:spPr>
          <a:xfrm>
            <a:off x="6400800" y="2971800"/>
            <a:ext cx="2103120" cy="1280160"/>
          </a:xfrm>
          <a:prstGeom prst="rect">
            <a:avLst/>
          </a:prstGeom>
          <a:noFill/>
          <a:ln/>
        </p:spPr>
        <p:txBody>
          <a:bodyPr wrap="square" lIns="0" tIns="0" rIns="0" bIns="0" rtlCol="0" anchor="ctr"/>
          <a:lstStyle/>
          <a:p>
            <a:pPr algn="ctr" indent="0" marL="0">
              <a:lnSpc>
                <a:spcPct val="130000"/>
              </a:lnSpc>
              <a:buNone/>
            </a:pPr>
            <a:r>
              <a:rPr lang="en-US" sz="1100" dirty="0">
                <a:solidFill>
                  <a:srgbClr val="64748B"/>
                </a:solidFill>
                <a:latin typeface="Calibri" pitchFamily="34" charset="0"/>
                <a:ea typeface="Calibri" pitchFamily="34" charset="-122"/>
                <a:cs typeface="Calibri" pitchFamily="34" charset="-120"/>
              </a:rPr>
              <a:t>Converting ownership rights</a:t>
            </a:r>
            <a:endParaRPr lang="en-US" sz="1100" dirty="0"/>
          </a:p>
          <a:p>
            <a:pPr algn="ctr" indent="0" marL="0">
              <a:lnSpc>
                <a:spcPct val="130000"/>
              </a:lnSpc>
              <a:buNone/>
            </a:pPr>
            <a:r>
              <a:rPr lang="en-US" sz="1100" dirty="0">
                <a:solidFill>
                  <a:srgbClr val="64748B"/>
                </a:solidFill>
                <a:latin typeface="Calibri" pitchFamily="34" charset="0"/>
                <a:ea typeface="Calibri" pitchFamily="34" charset="-122"/>
                <a:cs typeface="Calibri" pitchFamily="34" charset="-120"/>
              </a:rPr>
              <a:t>in an asset into a digital token</a:t>
            </a:r>
            <a:endParaRPr lang="en-US" sz="1100" dirty="0"/>
          </a:p>
          <a:p>
            <a:pPr algn="ctr" indent="0" marL="0">
              <a:lnSpc>
                <a:spcPct val="130000"/>
              </a:lnSpc>
              <a:buNone/>
            </a:pPr>
            <a:r>
              <a:rPr lang="en-US" sz="1100" dirty="0">
                <a:solidFill>
                  <a:srgbClr val="64748B"/>
                </a:solidFill>
                <a:latin typeface="Calibri" pitchFamily="34" charset="0"/>
                <a:ea typeface="Calibri" pitchFamily="34" charset="-122"/>
                <a:cs typeface="Calibri" pitchFamily="34" charset="-120"/>
              </a:rPr>
              <a:t>on blockchain — enabling 24/7</a:t>
            </a:r>
            <a:endParaRPr lang="en-US" sz="1100" dirty="0"/>
          </a:p>
          <a:p>
            <a:pPr algn="ctr" indent="0" marL="0">
              <a:lnSpc>
                <a:spcPct val="130000"/>
              </a:lnSpc>
              <a:buNone/>
            </a:pPr>
            <a:r>
              <a:rPr lang="en-US" sz="1100" dirty="0">
                <a:solidFill>
                  <a:srgbClr val="64748B"/>
                </a:solidFill>
                <a:latin typeface="Calibri" pitchFamily="34" charset="0"/>
                <a:ea typeface="Calibri" pitchFamily="34" charset="-122"/>
                <a:cs typeface="Calibri" pitchFamily="34" charset="-120"/>
              </a:rPr>
              <a:t>trading, fractional ownership,</a:t>
            </a:r>
            <a:endParaRPr lang="en-US" sz="1100" dirty="0"/>
          </a:p>
          <a:p>
            <a:pPr algn="ctr" indent="0" marL="0">
              <a:lnSpc>
                <a:spcPct val="130000"/>
              </a:lnSpc>
              <a:buNone/>
            </a:pPr>
            <a:r>
              <a:rPr lang="en-US" sz="1100" dirty="0">
                <a:solidFill>
                  <a:srgbClr val="64748B"/>
                </a:solidFill>
                <a:latin typeface="Calibri" pitchFamily="34" charset="0"/>
                <a:ea typeface="Calibri" pitchFamily="34" charset="-122"/>
                <a:cs typeface="Calibri" pitchFamily="34" charset="-120"/>
              </a:rPr>
              <a:t>and instant settlement</a:t>
            </a:r>
            <a:endParaRPr lang="en-US" sz="1100" dirty="0"/>
          </a:p>
        </p:txBody>
      </p:sp>
      <p:sp>
        <p:nvSpPr>
          <p:cNvPr id="19" name="Shape 14"/>
          <p:cNvSpPr/>
          <p:nvPr/>
        </p:nvSpPr>
        <p:spPr>
          <a:xfrm>
            <a:off x="1691640" y="4544568"/>
            <a:ext cx="5760720" cy="0"/>
          </a:xfrm>
          <a:prstGeom prst="line">
            <a:avLst/>
          </a:prstGeom>
          <a:noFill/>
          <a:ln w="19050">
            <a:solidFill>
              <a:srgbClr val="0D9488"/>
            </a:solidFill>
            <a:prstDash val="dash"/>
          </a:ln>
        </p:spPr>
      </p:sp>
      <p:sp>
        <p:nvSpPr>
          <p:cNvPr id="20" name="Text 15"/>
          <p:cNvSpPr/>
          <p:nvPr/>
        </p:nvSpPr>
        <p:spPr>
          <a:xfrm>
            <a:off x="640080" y="4663440"/>
            <a:ext cx="7863840" cy="32004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Together: tokenization bridges traditional finance with blockchain infrastructure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7863840" cy="45720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The Tokenization Process</a:t>
            </a:r>
            <a:endParaRPr lang="en-US" sz="2600" dirty="0"/>
          </a:p>
        </p:txBody>
      </p:sp>
      <p:sp>
        <p:nvSpPr>
          <p:cNvPr id="3" name="Text 1"/>
          <p:cNvSpPr/>
          <p:nvPr/>
        </p:nvSpPr>
        <p:spPr>
          <a:xfrm>
            <a:off x="640080" y="658368"/>
            <a:ext cx="7863840" cy="502920"/>
          </a:xfrm>
          <a:prstGeom prst="rect">
            <a:avLst/>
          </a:prstGeom>
          <a:noFill/>
          <a:ln/>
        </p:spPr>
        <p:txBody>
          <a:bodyPr wrap="square" lIns="0" tIns="0" rIns="0" bIns="0" rtlCol="0" anchor="ctr"/>
          <a:lstStyle/>
          <a:p>
            <a:pPr indent="0" marL="0">
              <a:lnSpc>
                <a:spcPct val="125000"/>
              </a:lnSpc>
              <a:buNone/>
            </a:pPr>
            <a:r>
              <a:rPr lang="en-US" sz="1000" dirty="0">
                <a:solidFill>
                  <a:srgbClr val="64748B"/>
                </a:solidFill>
                <a:latin typeface="Calibri" pitchFamily="34" charset="0"/>
                <a:ea typeface="Calibri" pitchFamily="34" charset="-122"/>
                <a:cs typeface="Calibri" pitchFamily="34" charset="-120"/>
              </a:rPr>
              <a:t>Tokenization converts ownership rights in an asset into a digital token on a distributed ledger, creating a programmable, transferable, and fractionable representation of value. The process spans six stages — from asset identification through ongoing lifecycle management — each involving distinct legal, technical, and commercial design choices.</a:t>
            </a:r>
            <a:endParaRPr lang="en-US" sz="1000" dirty="0"/>
          </a:p>
        </p:txBody>
      </p:sp>
      <p:sp>
        <p:nvSpPr>
          <p:cNvPr id="4" name="Shape 2"/>
          <p:cNvSpPr/>
          <p:nvPr/>
        </p:nvSpPr>
        <p:spPr>
          <a:xfrm>
            <a:off x="685800" y="1234440"/>
            <a:ext cx="2377440" cy="1188720"/>
          </a:xfrm>
          <a:prstGeom prst="roundRect">
            <a:avLst>
              <a:gd name="adj" fmla="val 7692"/>
            </a:avLst>
          </a:prstGeom>
          <a:solidFill>
            <a:srgbClr val="F0FDFA"/>
          </a:solidFill>
          <a:ln/>
          <a:effectLst>
            <a:outerShdw sx="100000" sy="100000" kx="0" ky="0" algn="bl" rotWithShape="0" blurRad="50800" dist="12700" dir="2700000">
              <a:srgbClr val="000000">
                <a:alpha val="8000"/>
              </a:srgbClr>
            </a:outerShdw>
          </a:effectLst>
        </p:spPr>
      </p:sp>
      <p:pic>
        <p:nvPicPr>
          <p:cNvPr id="5" name="Image 0" descr="preencoded.png">    </p:cNvPr>
          <p:cNvPicPr>
            <a:picLocks noChangeAspect="1"/>
          </p:cNvPicPr>
          <p:nvPr/>
        </p:nvPicPr>
        <p:blipFill>
          <a:blip r:embed="rId1"/>
          <a:stretch>
            <a:fillRect/>
          </a:stretch>
        </p:blipFill>
        <p:spPr>
          <a:xfrm>
            <a:off x="795528" y="1325880"/>
            <a:ext cx="320040" cy="320040"/>
          </a:xfrm>
          <a:prstGeom prst="rect">
            <a:avLst/>
          </a:prstGeom>
        </p:spPr>
      </p:pic>
      <p:sp>
        <p:nvSpPr>
          <p:cNvPr id="6" name="Text 3"/>
          <p:cNvSpPr/>
          <p:nvPr/>
        </p:nvSpPr>
        <p:spPr>
          <a:xfrm>
            <a:off x="1161288" y="1325880"/>
            <a:ext cx="1737360" cy="36576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Asset Selection</a:t>
            </a:r>
            <a:endParaRPr lang="en-US" sz="1200" dirty="0"/>
          </a:p>
        </p:txBody>
      </p:sp>
      <p:sp>
        <p:nvSpPr>
          <p:cNvPr id="7" name="Text 4"/>
          <p:cNvSpPr/>
          <p:nvPr/>
        </p:nvSpPr>
        <p:spPr>
          <a:xfrm>
            <a:off x="795528" y="1691640"/>
            <a:ext cx="2157984" cy="658368"/>
          </a:xfrm>
          <a:prstGeom prst="rect">
            <a:avLst/>
          </a:prstGeom>
          <a:noFill/>
          <a:ln/>
        </p:spPr>
        <p:txBody>
          <a:bodyPr wrap="square" lIns="0" tIns="0" rIns="0" bIns="0" rtlCol="0" anchor="ctr"/>
          <a:lstStyle/>
          <a:p>
            <a:pPr indent="0" marL="0">
              <a:lnSpc>
                <a:spcPct val="120000"/>
              </a:lnSpc>
              <a:buNone/>
            </a:pPr>
            <a:r>
              <a:rPr lang="en-US" sz="850" dirty="0">
                <a:solidFill>
                  <a:srgbClr val="64748B"/>
                </a:solidFill>
                <a:latin typeface="Calibri" pitchFamily="34" charset="0"/>
                <a:ea typeface="Calibri" pitchFamily="34" charset="-122"/>
                <a:cs typeface="Calibri" pitchFamily="34" charset="-120"/>
              </a:rPr>
              <a:t>Identify the underlying asset — either an RWA (equities, bonds, real estate, funds) or a blockchain-native asset (DeFi protocol tokens, NFTs)</a:t>
            </a:r>
            <a:endParaRPr lang="en-US" sz="850" dirty="0"/>
          </a:p>
        </p:txBody>
      </p:sp>
      <p:sp>
        <p:nvSpPr>
          <p:cNvPr id="8" name="Shape 5"/>
          <p:cNvSpPr/>
          <p:nvPr/>
        </p:nvSpPr>
        <p:spPr>
          <a:xfrm>
            <a:off x="3383280" y="1234440"/>
            <a:ext cx="2377440" cy="1188720"/>
          </a:xfrm>
          <a:prstGeom prst="roundRect">
            <a:avLst>
              <a:gd name="adj" fmla="val 7692"/>
            </a:avLst>
          </a:prstGeom>
          <a:solidFill>
            <a:srgbClr val="F0FDFA"/>
          </a:solidFill>
          <a:ln/>
          <a:effectLst>
            <a:outerShdw sx="100000" sy="100000" kx="0" ky="0" algn="bl" rotWithShape="0" blurRad="50800" dist="12700" dir="2700000">
              <a:srgbClr val="000000">
                <a:alpha val="8000"/>
              </a:srgbClr>
            </a:outerShdw>
          </a:effectLst>
        </p:spPr>
      </p:sp>
      <p:pic>
        <p:nvPicPr>
          <p:cNvPr id="9" name="Image 1" descr="preencoded.png">    </p:cNvPr>
          <p:cNvPicPr>
            <a:picLocks noChangeAspect="1"/>
          </p:cNvPicPr>
          <p:nvPr/>
        </p:nvPicPr>
        <p:blipFill>
          <a:blip r:embed="rId2"/>
          <a:stretch>
            <a:fillRect/>
          </a:stretch>
        </p:blipFill>
        <p:spPr>
          <a:xfrm>
            <a:off x="3493008" y="1325880"/>
            <a:ext cx="320040" cy="320040"/>
          </a:xfrm>
          <a:prstGeom prst="rect">
            <a:avLst/>
          </a:prstGeom>
        </p:spPr>
      </p:pic>
      <p:sp>
        <p:nvSpPr>
          <p:cNvPr id="10" name="Text 6"/>
          <p:cNvSpPr/>
          <p:nvPr/>
        </p:nvSpPr>
        <p:spPr>
          <a:xfrm>
            <a:off x="3858768" y="1325880"/>
            <a:ext cx="1737360" cy="36576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Token Design</a:t>
            </a:r>
            <a:endParaRPr lang="en-US" sz="1200" dirty="0"/>
          </a:p>
        </p:txBody>
      </p:sp>
      <p:sp>
        <p:nvSpPr>
          <p:cNvPr id="11" name="Text 7"/>
          <p:cNvSpPr/>
          <p:nvPr/>
        </p:nvSpPr>
        <p:spPr>
          <a:xfrm>
            <a:off x="3493008" y="1691640"/>
            <a:ext cx="2157984" cy="658368"/>
          </a:xfrm>
          <a:prstGeom prst="rect">
            <a:avLst/>
          </a:prstGeom>
          <a:noFill/>
          <a:ln/>
        </p:spPr>
        <p:txBody>
          <a:bodyPr wrap="square" lIns="0" tIns="0" rIns="0" bIns="0" rtlCol="0" anchor="ctr"/>
          <a:lstStyle/>
          <a:p>
            <a:pPr indent="0" marL="0">
              <a:lnSpc>
                <a:spcPct val="120000"/>
              </a:lnSpc>
              <a:buNone/>
            </a:pPr>
            <a:r>
              <a:rPr lang="en-US" sz="850" dirty="0">
                <a:solidFill>
                  <a:srgbClr val="64748B"/>
                </a:solidFill>
                <a:latin typeface="Calibri" pitchFamily="34" charset="0"/>
                <a:ea typeface="Calibri" pitchFamily="34" charset="-122"/>
                <a:cs typeface="Calibri" pitchFamily="34" charset="-120"/>
              </a:rPr>
              <a:t>Define token type (fungible ERC-20 vs. non-fungible ERC-721), economic rights (dividends, voting), supply, and compliance features (whitelisting, transfer restrictions)</a:t>
            </a:r>
            <a:endParaRPr lang="en-US" sz="850" dirty="0"/>
          </a:p>
        </p:txBody>
      </p:sp>
      <p:sp>
        <p:nvSpPr>
          <p:cNvPr id="12" name="Shape 8"/>
          <p:cNvSpPr/>
          <p:nvPr/>
        </p:nvSpPr>
        <p:spPr>
          <a:xfrm>
            <a:off x="6080760" y="1234440"/>
            <a:ext cx="2377440" cy="1188720"/>
          </a:xfrm>
          <a:prstGeom prst="roundRect">
            <a:avLst>
              <a:gd name="adj" fmla="val 7692"/>
            </a:avLst>
          </a:prstGeom>
          <a:solidFill>
            <a:srgbClr val="F0FDFA"/>
          </a:solidFill>
          <a:ln/>
          <a:effectLst>
            <a:outerShdw sx="100000" sy="100000" kx="0" ky="0" algn="bl" rotWithShape="0" blurRad="50800" dist="12700" dir="2700000">
              <a:srgbClr val="000000">
                <a:alpha val="8000"/>
              </a:srgbClr>
            </a:outerShdw>
          </a:effectLst>
        </p:spPr>
      </p:sp>
      <p:pic>
        <p:nvPicPr>
          <p:cNvPr id="13" name="Image 2" descr="preencoded.png">    </p:cNvPr>
          <p:cNvPicPr>
            <a:picLocks noChangeAspect="1"/>
          </p:cNvPicPr>
          <p:nvPr/>
        </p:nvPicPr>
        <p:blipFill>
          <a:blip r:embed="rId3"/>
          <a:stretch>
            <a:fillRect/>
          </a:stretch>
        </p:blipFill>
        <p:spPr>
          <a:xfrm>
            <a:off x="6190488" y="1325880"/>
            <a:ext cx="320040" cy="320040"/>
          </a:xfrm>
          <a:prstGeom prst="rect">
            <a:avLst/>
          </a:prstGeom>
        </p:spPr>
      </p:pic>
      <p:sp>
        <p:nvSpPr>
          <p:cNvPr id="14" name="Text 9"/>
          <p:cNvSpPr/>
          <p:nvPr/>
        </p:nvSpPr>
        <p:spPr>
          <a:xfrm>
            <a:off x="6556248" y="1325880"/>
            <a:ext cx="1737360" cy="36576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Blockchain</a:t>
            </a:r>
            <a:endParaRPr lang="en-US" sz="1200" dirty="0"/>
          </a:p>
          <a:p>
            <a:pPr indent="0" marL="0">
              <a:buNone/>
            </a:pPr>
            <a:r>
              <a:rPr lang="en-US" sz="1200" b="1" dirty="0">
                <a:solidFill>
                  <a:srgbClr val="1E293B"/>
                </a:solidFill>
                <a:latin typeface="Calibri" pitchFamily="34" charset="0"/>
                <a:ea typeface="Calibri" pitchFamily="34" charset="-122"/>
                <a:cs typeface="Calibri" pitchFamily="34" charset="-120"/>
              </a:rPr>
              <a:t>Choice</a:t>
            </a:r>
            <a:endParaRPr lang="en-US" sz="1200" dirty="0"/>
          </a:p>
        </p:txBody>
      </p:sp>
      <p:sp>
        <p:nvSpPr>
          <p:cNvPr id="15" name="Text 10"/>
          <p:cNvSpPr/>
          <p:nvPr/>
        </p:nvSpPr>
        <p:spPr>
          <a:xfrm>
            <a:off x="6190488" y="1691640"/>
            <a:ext cx="2157984" cy="658368"/>
          </a:xfrm>
          <a:prstGeom prst="rect">
            <a:avLst/>
          </a:prstGeom>
          <a:noFill/>
          <a:ln/>
        </p:spPr>
        <p:txBody>
          <a:bodyPr wrap="square" lIns="0" tIns="0" rIns="0" bIns="0" rtlCol="0" anchor="ctr"/>
          <a:lstStyle/>
          <a:p>
            <a:pPr indent="0" marL="0">
              <a:lnSpc>
                <a:spcPct val="120000"/>
              </a:lnSpc>
              <a:buNone/>
            </a:pPr>
            <a:r>
              <a:rPr lang="en-US" sz="850" dirty="0">
                <a:solidFill>
                  <a:srgbClr val="64748B"/>
                </a:solidFill>
                <a:latin typeface="Calibri" pitchFamily="34" charset="0"/>
                <a:ea typeface="Calibri" pitchFamily="34" charset="-122"/>
                <a:cs typeface="Calibri" pitchFamily="34" charset="-120"/>
              </a:rPr>
              <a:t>Select public (Ethereum, Solana, Avalanche) vs. private/permissioned (Hyperledger, Canton Network), weighing transparency, throughput, and regulatory preferences</a:t>
            </a:r>
            <a:endParaRPr lang="en-US" sz="850" dirty="0"/>
          </a:p>
        </p:txBody>
      </p:sp>
      <p:sp>
        <p:nvSpPr>
          <p:cNvPr id="16" name="Shape 11"/>
          <p:cNvSpPr/>
          <p:nvPr/>
        </p:nvSpPr>
        <p:spPr>
          <a:xfrm>
            <a:off x="685800" y="2587752"/>
            <a:ext cx="2377440" cy="1188720"/>
          </a:xfrm>
          <a:prstGeom prst="roundRect">
            <a:avLst>
              <a:gd name="adj" fmla="val 7692"/>
            </a:avLst>
          </a:prstGeom>
          <a:solidFill>
            <a:srgbClr val="F0FDFA"/>
          </a:solidFill>
          <a:ln/>
          <a:effectLst>
            <a:outerShdw sx="100000" sy="100000" kx="0" ky="0" algn="bl" rotWithShape="0" blurRad="50800" dist="12700" dir="2700000">
              <a:srgbClr val="000000">
                <a:alpha val="8000"/>
              </a:srgbClr>
            </a:outerShdw>
          </a:effectLst>
        </p:spPr>
      </p:sp>
      <p:pic>
        <p:nvPicPr>
          <p:cNvPr id="17" name="Image 3" descr="preencoded.png">    </p:cNvPr>
          <p:cNvPicPr>
            <a:picLocks noChangeAspect="1"/>
          </p:cNvPicPr>
          <p:nvPr/>
        </p:nvPicPr>
        <p:blipFill>
          <a:blip r:embed="rId4"/>
          <a:stretch>
            <a:fillRect/>
          </a:stretch>
        </p:blipFill>
        <p:spPr>
          <a:xfrm>
            <a:off x="795528" y="2679192"/>
            <a:ext cx="320040" cy="320040"/>
          </a:xfrm>
          <a:prstGeom prst="rect">
            <a:avLst/>
          </a:prstGeom>
        </p:spPr>
      </p:pic>
      <p:sp>
        <p:nvSpPr>
          <p:cNvPr id="18" name="Text 12"/>
          <p:cNvSpPr/>
          <p:nvPr/>
        </p:nvSpPr>
        <p:spPr>
          <a:xfrm>
            <a:off x="1161288" y="2679192"/>
            <a:ext cx="1737360" cy="36576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Smart</a:t>
            </a:r>
            <a:endParaRPr lang="en-US" sz="1200" dirty="0"/>
          </a:p>
          <a:p>
            <a:pPr indent="0" marL="0">
              <a:buNone/>
            </a:pPr>
            <a:r>
              <a:rPr lang="en-US" sz="1200" b="1" dirty="0">
                <a:solidFill>
                  <a:srgbClr val="1E293B"/>
                </a:solidFill>
                <a:latin typeface="Calibri" pitchFamily="34" charset="0"/>
                <a:ea typeface="Calibri" pitchFamily="34" charset="-122"/>
                <a:cs typeface="Calibri" pitchFamily="34" charset="-120"/>
              </a:rPr>
              <a:t>Contracts</a:t>
            </a:r>
            <a:endParaRPr lang="en-US" sz="1200" dirty="0"/>
          </a:p>
        </p:txBody>
      </p:sp>
      <p:sp>
        <p:nvSpPr>
          <p:cNvPr id="19" name="Text 13"/>
          <p:cNvSpPr/>
          <p:nvPr/>
        </p:nvSpPr>
        <p:spPr>
          <a:xfrm>
            <a:off x="795528" y="3044952"/>
            <a:ext cx="2157984" cy="658368"/>
          </a:xfrm>
          <a:prstGeom prst="rect">
            <a:avLst/>
          </a:prstGeom>
          <a:noFill/>
          <a:ln/>
        </p:spPr>
        <p:txBody>
          <a:bodyPr wrap="square" lIns="0" tIns="0" rIns="0" bIns="0" rtlCol="0" anchor="ctr"/>
          <a:lstStyle/>
          <a:p>
            <a:pPr indent="0" marL="0">
              <a:lnSpc>
                <a:spcPct val="120000"/>
              </a:lnSpc>
              <a:buNone/>
            </a:pPr>
            <a:r>
              <a:rPr lang="en-US" sz="850" dirty="0">
                <a:solidFill>
                  <a:srgbClr val="64748B"/>
                </a:solidFill>
                <a:latin typeface="Calibri" pitchFamily="34" charset="0"/>
                <a:ea typeface="Calibri" pitchFamily="34" charset="-122"/>
                <a:cs typeface="Calibri" pitchFamily="34" charset="-120"/>
              </a:rPr>
              <a:t>Deploy programmable logic encoding compliance rules, dividend distributions, corporate actions, transfer restrictions, and KYC/AML hooks on-chain</a:t>
            </a:r>
            <a:endParaRPr lang="en-US" sz="850" dirty="0"/>
          </a:p>
        </p:txBody>
      </p:sp>
      <p:sp>
        <p:nvSpPr>
          <p:cNvPr id="20" name="Shape 14"/>
          <p:cNvSpPr/>
          <p:nvPr/>
        </p:nvSpPr>
        <p:spPr>
          <a:xfrm>
            <a:off x="3383280" y="2587752"/>
            <a:ext cx="2377440" cy="1188720"/>
          </a:xfrm>
          <a:prstGeom prst="roundRect">
            <a:avLst>
              <a:gd name="adj" fmla="val 7692"/>
            </a:avLst>
          </a:prstGeom>
          <a:solidFill>
            <a:srgbClr val="F0FDFA"/>
          </a:solidFill>
          <a:ln/>
          <a:effectLst>
            <a:outerShdw sx="100000" sy="100000" kx="0" ky="0" algn="bl" rotWithShape="0" blurRad="50800" dist="12700" dir="2700000">
              <a:srgbClr val="000000">
                <a:alpha val="8000"/>
              </a:srgbClr>
            </a:outerShdw>
          </a:effectLst>
        </p:spPr>
      </p:sp>
      <p:pic>
        <p:nvPicPr>
          <p:cNvPr id="21" name="Image 4" descr="preencoded.png">    </p:cNvPr>
          <p:cNvPicPr>
            <a:picLocks noChangeAspect="1"/>
          </p:cNvPicPr>
          <p:nvPr/>
        </p:nvPicPr>
        <p:blipFill>
          <a:blip r:embed="rId5"/>
          <a:stretch>
            <a:fillRect/>
          </a:stretch>
        </p:blipFill>
        <p:spPr>
          <a:xfrm>
            <a:off x="3493008" y="2679192"/>
            <a:ext cx="320040" cy="320040"/>
          </a:xfrm>
          <a:prstGeom prst="rect">
            <a:avLst/>
          </a:prstGeom>
        </p:spPr>
      </p:pic>
      <p:sp>
        <p:nvSpPr>
          <p:cNvPr id="22" name="Text 15"/>
          <p:cNvSpPr/>
          <p:nvPr/>
        </p:nvSpPr>
        <p:spPr>
          <a:xfrm>
            <a:off x="3858768" y="2679192"/>
            <a:ext cx="1737360" cy="36576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Trading</a:t>
            </a:r>
            <a:endParaRPr lang="en-US" sz="1200" dirty="0"/>
          </a:p>
        </p:txBody>
      </p:sp>
      <p:sp>
        <p:nvSpPr>
          <p:cNvPr id="23" name="Text 16"/>
          <p:cNvSpPr/>
          <p:nvPr/>
        </p:nvSpPr>
        <p:spPr>
          <a:xfrm>
            <a:off x="3493008" y="3044952"/>
            <a:ext cx="2157984" cy="658368"/>
          </a:xfrm>
          <a:prstGeom prst="rect">
            <a:avLst/>
          </a:prstGeom>
          <a:noFill/>
          <a:ln/>
        </p:spPr>
        <p:txBody>
          <a:bodyPr wrap="square" lIns="0" tIns="0" rIns="0" bIns="0" rtlCol="0" anchor="ctr"/>
          <a:lstStyle/>
          <a:p>
            <a:pPr indent="0" marL="0">
              <a:lnSpc>
                <a:spcPct val="120000"/>
              </a:lnSpc>
              <a:buNone/>
            </a:pPr>
            <a:r>
              <a:rPr lang="en-US" sz="850" dirty="0">
                <a:solidFill>
                  <a:srgbClr val="64748B"/>
                </a:solidFill>
                <a:latin typeface="Calibri" pitchFamily="34" charset="0"/>
                <a:ea typeface="Calibri" pitchFamily="34" charset="-122"/>
                <a:cs typeface="Calibri" pitchFamily="34" charset="-120"/>
              </a:rPr>
              <a:t>Enable primary issuance and secondary market trading via CEX/DEX listings, ATS platforms, or OTC desks with liquidity provision and price discovery</a:t>
            </a:r>
            <a:endParaRPr lang="en-US" sz="850" dirty="0"/>
          </a:p>
        </p:txBody>
      </p:sp>
      <p:sp>
        <p:nvSpPr>
          <p:cNvPr id="24" name="Shape 17"/>
          <p:cNvSpPr/>
          <p:nvPr/>
        </p:nvSpPr>
        <p:spPr>
          <a:xfrm>
            <a:off x="6080760" y="2587752"/>
            <a:ext cx="2377440" cy="1188720"/>
          </a:xfrm>
          <a:prstGeom prst="roundRect">
            <a:avLst>
              <a:gd name="adj" fmla="val 7692"/>
            </a:avLst>
          </a:prstGeom>
          <a:solidFill>
            <a:srgbClr val="F0FDFA"/>
          </a:solidFill>
          <a:ln/>
          <a:effectLst>
            <a:outerShdw sx="100000" sy="100000" kx="0" ky="0" algn="bl" rotWithShape="0" blurRad="50800" dist="12700" dir="2700000">
              <a:srgbClr val="000000">
                <a:alpha val="8000"/>
              </a:srgbClr>
            </a:outerShdw>
          </a:effectLst>
        </p:spPr>
      </p:sp>
      <p:pic>
        <p:nvPicPr>
          <p:cNvPr id="25" name="Image 5" descr="preencoded.png">    </p:cNvPr>
          <p:cNvPicPr>
            <a:picLocks noChangeAspect="1"/>
          </p:cNvPicPr>
          <p:nvPr/>
        </p:nvPicPr>
        <p:blipFill>
          <a:blip r:embed="rId6"/>
          <a:stretch>
            <a:fillRect/>
          </a:stretch>
        </p:blipFill>
        <p:spPr>
          <a:xfrm>
            <a:off x="6190488" y="2679192"/>
            <a:ext cx="320040" cy="320040"/>
          </a:xfrm>
          <a:prstGeom prst="rect">
            <a:avLst/>
          </a:prstGeom>
        </p:spPr>
      </p:pic>
      <p:sp>
        <p:nvSpPr>
          <p:cNvPr id="26" name="Text 18"/>
          <p:cNvSpPr/>
          <p:nvPr/>
        </p:nvSpPr>
        <p:spPr>
          <a:xfrm>
            <a:off x="6556248" y="2679192"/>
            <a:ext cx="1737360" cy="36576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Management</a:t>
            </a:r>
            <a:endParaRPr lang="en-US" sz="1200" dirty="0"/>
          </a:p>
        </p:txBody>
      </p:sp>
      <p:sp>
        <p:nvSpPr>
          <p:cNvPr id="27" name="Text 19"/>
          <p:cNvSpPr/>
          <p:nvPr/>
        </p:nvSpPr>
        <p:spPr>
          <a:xfrm>
            <a:off x="6190488" y="3044952"/>
            <a:ext cx="2157984" cy="658368"/>
          </a:xfrm>
          <a:prstGeom prst="rect">
            <a:avLst/>
          </a:prstGeom>
          <a:noFill/>
          <a:ln/>
        </p:spPr>
        <p:txBody>
          <a:bodyPr wrap="square" lIns="0" tIns="0" rIns="0" bIns="0" rtlCol="0" anchor="ctr"/>
          <a:lstStyle/>
          <a:p>
            <a:pPr indent="0" marL="0">
              <a:lnSpc>
                <a:spcPct val="120000"/>
              </a:lnSpc>
              <a:buNone/>
            </a:pPr>
            <a:r>
              <a:rPr lang="en-US" sz="850" dirty="0">
                <a:solidFill>
                  <a:srgbClr val="64748B"/>
                </a:solidFill>
                <a:latin typeface="Calibri" pitchFamily="34" charset="0"/>
                <a:ea typeface="Calibri" pitchFamily="34" charset="-122"/>
                <a:cs typeface="Calibri" pitchFamily="34" charset="-120"/>
              </a:rPr>
              <a:t>Ongoing lifecycle operations: NAV updates, coupon/dividend processing, corporate actions, regulatory reporting, and investor communications</a:t>
            </a:r>
            <a:endParaRPr lang="en-US" sz="850" dirty="0"/>
          </a:p>
        </p:txBody>
      </p:sp>
      <p:pic>
        <p:nvPicPr>
          <p:cNvPr id="28" name="Image 6" descr="preencoded.png">    </p:cNvPr>
          <p:cNvPicPr>
            <a:picLocks noChangeAspect="1"/>
          </p:cNvPicPr>
          <p:nvPr/>
        </p:nvPicPr>
        <p:blipFill>
          <a:blip r:embed="rId7"/>
          <a:stretch>
            <a:fillRect/>
          </a:stretch>
        </p:blipFill>
        <p:spPr>
          <a:xfrm>
            <a:off x="3095244" y="1691640"/>
            <a:ext cx="274320" cy="274320"/>
          </a:xfrm>
          <a:prstGeom prst="rect">
            <a:avLst/>
          </a:prstGeom>
        </p:spPr>
      </p:pic>
      <p:pic>
        <p:nvPicPr>
          <p:cNvPr id="29" name="Image 7" descr="preencoded.png">    </p:cNvPr>
          <p:cNvPicPr>
            <a:picLocks noChangeAspect="1"/>
          </p:cNvPicPr>
          <p:nvPr/>
        </p:nvPicPr>
        <p:blipFill>
          <a:blip r:embed="rId8"/>
          <a:stretch>
            <a:fillRect/>
          </a:stretch>
        </p:blipFill>
        <p:spPr>
          <a:xfrm>
            <a:off x="5792724" y="1691640"/>
            <a:ext cx="274320" cy="274320"/>
          </a:xfrm>
          <a:prstGeom prst="rect">
            <a:avLst/>
          </a:prstGeom>
        </p:spPr>
      </p:pic>
      <p:pic>
        <p:nvPicPr>
          <p:cNvPr id="30" name="Image 8" descr="preencoded.png">    </p:cNvPr>
          <p:cNvPicPr>
            <a:picLocks noChangeAspect="1"/>
          </p:cNvPicPr>
          <p:nvPr/>
        </p:nvPicPr>
        <p:blipFill>
          <a:blip r:embed="rId9"/>
          <a:stretch>
            <a:fillRect/>
          </a:stretch>
        </p:blipFill>
        <p:spPr>
          <a:xfrm>
            <a:off x="3095244" y="3044952"/>
            <a:ext cx="274320" cy="274320"/>
          </a:xfrm>
          <a:prstGeom prst="rect">
            <a:avLst/>
          </a:prstGeom>
        </p:spPr>
      </p:pic>
      <p:pic>
        <p:nvPicPr>
          <p:cNvPr id="31" name="Image 9" descr="preencoded.png">    </p:cNvPr>
          <p:cNvPicPr>
            <a:picLocks noChangeAspect="1"/>
          </p:cNvPicPr>
          <p:nvPr/>
        </p:nvPicPr>
        <p:blipFill>
          <a:blip r:embed="rId10"/>
          <a:stretch>
            <a:fillRect/>
          </a:stretch>
        </p:blipFill>
        <p:spPr>
          <a:xfrm>
            <a:off x="5792724" y="3044952"/>
            <a:ext cx="274320" cy="274320"/>
          </a:xfrm>
          <a:prstGeom prst="rect">
            <a:avLst/>
          </a:prstGeom>
        </p:spPr>
      </p:pic>
      <p:sp>
        <p:nvSpPr>
          <p:cNvPr id="32" name="Text 20"/>
          <p:cNvSpPr/>
          <p:nvPr/>
        </p:nvSpPr>
        <p:spPr>
          <a:xfrm>
            <a:off x="8503920" y="2194560"/>
            <a:ext cx="457200" cy="640080"/>
          </a:xfrm>
          <a:prstGeom prst="rect">
            <a:avLst/>
          </a:prstGeom>
          <a:noFill/>
          <a:ln/>
        </p:spPr>
        <p:txBody>
          <a:bodyPr wrap="square" lIns="0" tIns="0" rIns="0" bIns="0" rtlCol="0" anchor="ctr"/>
          <a:lstStyle/>
          <a:p>
            <a:pPr algn="ctr" indent="0" marL="0">
              <a:buNone/>
            </a:pPr>
            <a:r>
              <a:rPr lang="en-US" sz="2400" dirty="0">
                <a:solidFill>
                  <a:srgbClr val="0D9488"/>
                </a:solidFill>
                <a:latin typeface="Arial" pitchFamily="34" charset="0"/>
                <a:ea typeface="Arial" pitchFamily="34" charset="-122"/>
                <a:cs typeface="Arial" pitchFamily="34" charset="-120"/>
              </a:rPr>
              <a:t>↴</a:t>
            </a:r>
            <a:endParaRPr lang="en-US" sz="2400" dirty="0"/>
          </a:p>
        </p:txBody>
      </p:sp>
      <p:sp>
        <p:nvSpPr>
          <p:cNvPr id="33" name="Shape 21"/>
          <p:cNvSpPr/>
          <p:nvPr/>
        </p:nvSpPr>
        <p:spPr>
          <a:xfrm>
            <a:off x="640080" y="3913632"/>
            <a:ext cx="7863840" cy="960120"/>
          </a:xfrm>
          <a:prstGeom prst="roundRect">
            <a:avLst>
              <a:gd name="adj" fmla="val 9524"/>
            </a:avLst>
          </a:prstGeom>
          <a:solidFill>
            <a:srgbClr val="EFF6FF"/>
          </a:solidFill>
          <a:ln/>
          <a:effectLst>
            <a:outerShdw sx="100000" sy="100000" kx="0" ky="0" algn="bl" rotWithShape="0" blurRad="50800" dist="12700" dir="2700000">
              <a:srgbClr val="000000">
                <a:alpha val="8000"/>
              </a:srgbClr>
            </a:outerShdw>
          </a:effectLst>
        </p:spPr>
      </p:sp>
      <p:sp>
        <p:nvSpPr>
          <p:cNvPr id="34" name="Text 22"/>
          <p:cNvSpPr/>
          <p:nvPr/>
        </p:nvSpPr>
        <p:spPr>
          <a:xfrm>
            <a:off x="822960" y="3968496"/>
            <a:ext cx="713232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Worked Example: BlackRock’s BUIDL Fund</a:t>
            </a:r>
            <a:endParaRPr lang="en-US" sz="1100" dirty="0"/>
          </a:p>
        </p:txBody>
      </p:sp>
      <p:sp>
        <p:nvSpPr>
          <p:cNvPr id="35" name="Text 23"/>
          <p:cNvSpPr/>
          <p:nvPr/>
        </p:nvSpPr>
        <p:spPr>
          <a:xfrm>
            <a:off x="822960" y="4206240"/>
            <a:ext cx="7498080" cy="594360"/>
          </a:xfrm>
          <a:prstGeom prst="rect">
            <a:avLst/>
          </a:prstGeom>
          <a:noFill/>
          <a:ln/>
        </p:spPr>
        <p:txBody>
          <a:bodyPr wrap="square" lIns="0" tIns="0" rIns="0" bIns="0" rtlCol="0" anchor="ctr"/>
          <a:lstStyle/>
          <a:p>
            <a:pPr indent="0" marL="0">
              <a:lnSpc>
                <a:spcPct val="120000"/>
              </a:lnSpc>
              <a:buNone/>
            </a:pPr>
            <a:r>
              <a:rPr lang="en-US" sz="850" dirty="0">
                <a:solidFill>
                  <a:srgbClr val="64748B"/>
                </a:solidFill>
                <a:latin typeface="Calibri" pitchFamily="34" charset="0"/>
                <a:ea typeface="Calibri" pitchFamily="34" charset="-122"/>
                <a:cs typeface="Calibri" pitchFamily="34" charset="-120"/>
              </a:rPr>
              <a:t>BlackRock selects US Treasuries as the underlying RWA (Step 1). Securitize designs an ERC-20 token granting pro-rata NAV rights with $5M minimum and accredited-only transfer restrictions (Step 2). The token deploys on Ethereum (Step 3) via smart contracts encoding KYC whitelists and daily NAV accrual (Step 4). Secondary trading occurs on Securitize Markets ATS (Step 5). Ongoing management includes daily NAV strikes, USDC dividend distributions, and monthly compliance reporting (Step 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548640"/>
          </a:xfrm>
          <a:prstGeom prst="rect">
            <a:avLst/>
          </a:prstGeom>
          <a:noFill/>
          <a:ln/>
        </p:spPr>
        <p:txBody>
          <a:bodyPr wrap="square" lIns="0" tIns="0" rIns="0" bIns="0"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Regulatory Tailwinds Across Key Markets</a:t>
            </a:r>
            <a:endParaRPr lang="en-US" sz="2800" dirty="0"/>
          </a:p>
        </p:txBody>
      </p:sp>
      <p:sp>
        <p:nvSpPr>
          <p:cNvPr id="3" name="Text 1"/>
          <p:cNvSpPr/>
          <p:nvPr/>
        </p:nvSpPr>
        <p:spPr>
          <a:xfrm>
            <a:off x="640080" y="822960"/>
            <a:ext cx="786384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Accelerating global policy momentum toward tokenized asset frameworks</a:t>
            </a:r>
            <a:endParaRPr lang="en-US" sz="1200" dirty="0"/>
          </a:p>
        </p:txBody>
      </p:sp>
      <p:sp>
        <p:nvSpPr>
          <p:cNvPr id="4" name="Shape 2"/>
          <p:cNvSpPr/>
          <p:nvPr/>
        </p:nvSpPr>
        <p:spPr>
          <a:xfrm>
            <a:off x="457200" y="1325880"/>
            <a:ext cx="2468880" cy="1600200"/>
          </a:xfrm>
          <a:prstGeom prst="roundRect">
            <a:avLst>
              <a:gd name="adj" fmla="val 6857"/>
            </a:avLst>
          </a:prstGeom>
          <a:solidFill>
            <a:srgbClr val="F0FDFA"/>
          </a:solidFill>
          <a:ln/>
          <a:effectLst>
            <a:outerShdw sx="100000" sy="100000" kx="0" ky="0" algn="bl" rotWithShape="0" blurRad="76200" dist="25400" dir="2700000">
              <a:srgbClr val="000000">
                <a:alpha val="10000"/>
              </a:srgbClr>
            </a:outerShdw>
          </a:effectLst>
        </p:spPr>
      </p:sp>
      <p:pic>
        <p:nvPicPr>
          <p:cNvPr id="5" name="Image 0" descr="preencoded.png">    </p:cNvPr>
          <p:cNvPicPr>
            <a:picLocks noChangeAspect="1"/>
          </p:cNvPicPr>
          <p:nvPr/>
        </p:nvPicPr>
        <p:blipFill>
          <a:blip r:embed="rId1"/>
          <a:stretch>
            <a:fillRect/>
          </a:stretch>
        </p:blipFill>
        <p:spPr>
          <a:xfrm>
            <a:off x="566928" y="1435608"/>
            <a:ext cx="320040" cy="320040"/>
          </a:xfrm>
          <a:prstGeom prst="rect">
            <a:avLst/>
          </a:prstGeom>
        </p:spPr>
      </p:pic>
      <p:sp>
        <p:nvSpPr>
          <p:cNvPr id="6" name="Text 3"/>
          <p:cNvSpPr/>
          <p:nvPr/>
        </p:nvSpPr>
        <p:spPr>
          <a:xfrm>
            <a:off x="932688" y="1435608"/>
            <a:ext cx="1828800" cy="32004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United States</a:t>
            </a:r>
            <a:endParaRPr lang="en-US" sz="1300" dirty="0"/>
          </a:p>
        </p:txBody>
      </p:sp>
      <p:sp>
        <p:nvSpPr>
          <p:cNvPr id="7" name="Text 4"/>
          <p:cNvSpPr/>
          <p:nvPr/>
        </p:nvSpPr>
        <p:spPr>
          <a:xfrm>
            <a:off x="594360" y="1783080"/>
            <a:ext cx="2194560" cy="1051560"/>
          </a:xfrm>
          <a:prstGeom prst="rect">
            <a:avLst/>
          </a:prstGeom>
          <a:noFill/>
          <a:ln/>
        </p:spPr>
        <p:txBody>
          <a:bodyPr wrap="square" lIns="0" tIns="0" rIns="0" bIns="0" rtlCol="0" anchor="t"/>
          <a:lstStyle/>
          <a:p>
            <a:pPr marL="342900" indent="-342900">
              <a:spcAft>
                <a:spcPts val="400"/>
              </a:spcAft>
              <a:buSzPct val="100000"/>
              <a:buChar char="•"/>
            </a:pPr>
            <a:r>
              <a:rPr lang="en-US" sz="900" dirty="0">
                <a:solidFill>
                  <a:srgbClr val="64748B"/>
                </a:solidFill>
                <a:latin typeface="Calibri" pitchFamily="34" charset="0"/>
                <a:ea typeface="Calibri" pitchFamily="34" charset="-122"/>
                <a:cs typeface="Calibri" pitchFamily="34" charset="-120"/>
              </a:rPr>
              <a:t>CLARITY Act: stablecoin regulatory framework</a:t>
            </a:r>
            <a:endParaRPr lang="en-US" sz="900" dirty="0"/>
          </a:p>
          <a:p>
            <a:pPr marL="342900" indent="-342900">
              <a:spcAft>
                <a:spcPts val="400"/>
              </a:spcAft>
              <a:buSzPct val="100000"/>
              <a:buChar char="•"/>
            </a:pPr>
            <a:r>
              <a:rPr lang="en-US" sz="900" dirty="0">
                <a:solidFill>
                  <a:srgbClr val="64748B"/>
                </a:solidFill>
                <a:latin typeface="Calibri" pitchFamily="34" charset="0"/>
                <a:ea typeface="Calibri" pitchFamily="34" charset="-122"/>
                <a:cs typeface="Calibri" pitchFamily="34" charset="-120"/>
              </a:rPr>
              <a:t>SEC crypto task force formed; SAB 121 repealed</a:t>
            </a:r>
            <a:endParaRPr lang="en-US" sz="900" dirty="0"/>
          </a:p>
          <a:p>
            <a:pPr marL="342900" indent="-342900">
              <a:spcAft>
                <a:spcPts val="400"/>
              </a:spcAft>
              <a:buSzPct val="100000"/>
              <a:buChar char="•"/>
            </a:pPr>
            <a:r>
              <a:rPr lang="en-US" sz="900" dirty="0">
                <a:solidFill>
                  <a:srgbClr val="64748B"/>
                </a:solidFill>
                <a:latin typeface="Calibri" pitchFamily="34" charset="0"/>
                <a:ea typeface="Calibri" pitchFamily="34" charset="-122"/>
                <a:cs typeface="Calibri" pitchFamily="34" charset="-120"/>
              </a:rPr>
              <a:t>OCC permits banks to custody digital assets</a:t>
            </a:r>
            <a:endParaRPr lang="en-US" sz="900" dirty="0"/>
          </a:p>
        </p:txBody>
      </p:sp>
      <p:sp>
        <p:nvSpPr>
          <p:cNvPr id="8" name="Shape 5"/>
          <p:cNvSpPr/>
          <p:nvPr/>
        </p:nvSpPr>
        <p:spPr>
          <a:xfrm>
            <a:off x="3337560" y="1325880"/>
            <a:ext cx="2468880" cy="1600200"/>
          </a:xfrm>
          <a:prstGeom prst="roundRect">
            <a:avLst>
              <a:gd name="adj" fmla="val 6857"/>
            </a:avLst>
          </a:prstGeom>
          <a:solidFill>
            <a:srgbClr val="EFF6FF"/>
          </a:solidFill>
          <a:ln/>
          <a:effectLst>
            <a:outerShdw sx="100000" sy="100000" kx="0" ky="0" algn="bl" rotWithShape="0" blurRad="76200" dist="25400" dir="2700000">
              <a:srgbClr val="000000">
                <a:alpha val="10000"/>
              </a:srgbClr>
            </a:outerShdw>
          </a:effectLst>
        </p:spPr>
      </p:sp>
      <p:pic>
        <p:nvPicPr>
          <p:cNvPr id="9" name="Image 1" descr="preencoded.png">    </p:cNvPr>
          <p:cNvPicPr>
            <a:picLocks noChangeAspect="1"/>
          </p:cNvPicPr>
          <p:nvPr/>
        </p:nvPicPr>
        <p:blipFill>
          <a:blip r:embed="rId2"/>
          <a:stretch>
            <a:fillRect/>
          </a:stretch>
        </p:blipFill>
        <p:spPr>
          <a:xfrm>
            <a:off x="3447288" y="1435608"/>
            <a:ext cx="320040" cy="320040"/>
          </a:xfrm>
          <a:prstGeom prst="rect">
            <a:avLst/>
          </a:prstGeom>
        </p:spPr>
      </p:pic>
      <p:sp>
        <p:nvSpPr>
          <p:cNvPr id="10" name="Text 6"/>
          <p:cNvSpPr/>
          <p:nvPr/>
        </p:nvSpPr>
        <p:spPr>
          <a:xfrm>
            <a:off x="3813048" y="1435608"/>
            <a:ext cx="1828800" cy="32004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European Union</a:t>
            </a:r>
            <a:endParaRPr lang="en-US" sz="1300" dirty="0"/>
          </a:p>
        </p:txBody>
      </p:sp>
      <p:sp>
        <p:nvSpPr>
          <p:cNvPr id="11" name="Text 7"/>
          <p:cNvSpPr/>
          <p:nvPr/>
        </p:nvSpPr>
        <p:spPr>
          <a:xfrm>
            <a:off x="3474720" y="1783080"/>
            <a:ext cx="2194560" cy="1051560"/>
          </a:xfrm>
          <a:prstGeom prst="rect">
            <a:avLst/>
          </a:prstGeom>
          <a:noFill/>
          <a:ln/>
        </p:spPr>
        <p:txBody>
          <a:bodyPr wrap="square" lIns="0" tIns="0" rIns="0" bIns="0" rtlCol="0" anchor="t"/>
          <a:lstStyle/>
          <a:p>
            <a:pPr marL="342900" indent="-342900">
              <a:spcAft>
                <a:spcPts val="400"/>
              </a:spcAft>
              <a:buSzPct val="100000"/>
              <a:buChar char="•"/>
            </a:pPr>
            <a:r>
              <a:rPr lang="en-US" sz="900" dirty="0">
                <a:solidFill>
                  <a:srgbClr val="64748B"/>
                </a:solidFill>
                <a:latin typeface="Calibri" pitchFamily="34" charset="0"/>
                <a:ea typeface="Calibri" pitchFamily="34" charset="-122"/>
                <a:cs typeface="Calibri" pitchFamily="34" charset="-120"/>
              </a:rPr>
              <a:t>MiCA fully effective Jan 2025; first comprehensive crypto regulation</a:t>
            </a:r>
            <a:endParaRPr lang="en-US" sz="900" dirty="0"/>
          </a:p>
          <a:p>
            <a:pPr marL="342900" indent="-342900">
              <a:spcAft>
                <a:spcPts val="400"/>
              </a:spcAft>
              <a:buSzPct val="100000"/>
              <a:buChar char="•"/>
            </a:pPr>
            <a:r>
              <a:rPr lang="en-US" sz="900" dirty="0">
                <a:solidFill>
                  <a:srgbClr val="64748B"/>
                </a:solidFill>
                <a:latin typeface="Calibri" pitchFamily="34" charset="0"/>
                <a:ea typeface="Calibri" pitchFamily="34" charset="-122"/>
                <a:cs typeface="Calibri" pitchFamily="34" charset="-120"/>
              </a:rPr>
              <a:t>DLT Pilot Regime live for tokenized securities trading</a:t>
            </a:r>
            <a:endParaRPr lang="en-US" sz="900" dirty="0"/>
          </a:p>
          <a:p>
            <a:pPr marL="342900" indent="-342900">
              <a:spcAft>
                <a:spcPts val="400"/>
              </a:spcAft>
              <a:buSzPct val="100000"/>
              <a:buChar char="•"/>
            </a:pPr>
            <a:r>
              <a:rPr lang="en-US" sz="900" dirty="0">
                <a:solidFill>
                  <a:srgbClr val="64748B"/>
                </a:solidFill>
                <a:latin typeface="Calibri" pitchFamily="34" charset="0"/>
                <a:ea typeface="Calibri" pitchFamily="34" charset="-122"/>
                <a:cs typeface="Calibri" pitchFamily="34" charset="-120"/>
              </a:rPr>
              <a:t>ECB digital euro in preparation phase</a:t>
            </a:r>
            <a:endParaRPr lang="en-US" sz="900" dirty="0"/>
          </a:p>
        </p:txBody>
      </p:sp>
      <p:sp>
        <p:nvSpPr>
          <p:cNvPr id="12" name="Shape 8"/>
          <p:cNvSpPr/>
          <p:nvPr/>
        </p:nvSpPr>
        <p:spPr>
          <a:xfrm>
            <a:off x="6217920" y="1325880"/>
            <a:ext cx="2468880" cy="1600200"/>
          </a:xfrm>
          <a:prstGeom prst="roundRect">
            <a:avLst>
              <a:gd name="adj" fmla="val 6857"/>
            </a:avLst>
          </a:prstGeom>
          <a:solidFill>
            <a:srgbClr val="F5F3FF"/>
          </a:solidFill>
          <a:ln/>
          <a:effectLst>
            <a:outerShdw sx="100000" sy="100000" kx="0" ky="0" algn="bl" rotWithShape="0" blurRad="76200" dist="25400" dir="2700000">
              <a:srgbClr val="000000">
                <a:alpha val="10000"/>
              </a:srgbClr>
            </a:outerShdw>
          </a:effectLst>
        </p:spPr>
      </p:sp>
      <p:pic>
        <p:nvPicPr>
          <p:cNvPr id="13" name="Image 2" descr="preencoded.png">    </p:cNvPr>
          <p:cNvPicPr>
            <a:picLocks noChangeAspect="1"/>
          </p:cNvPicPr>
          <p:nvPr/>
        </p:nvPicPr>
        <p:blipFill>
          <a:blip r:embed="rId3"/>
          <a:stretch>
            <a:fillRect/>
          </a:stretch>
        </p:blipFill>
        <p:spPr>
          <a:xfrm>
            <a:off x="6327648" y="1435608"/>
            <a:ext cx="320040" cy="320040"/>
          </a:xfrm>
          <a:prstGeom prst="rect">
            <a:avLst/>
          </a:prstGeom>
        </p:spPr>
      </p:pic>
      <p:sp>
        <p:nvSpPr>
          <p:cNvPr id="14" name="Text 9"/>
          <p:cNvSpPr/>
          <p:nvPr/>
        </p:nvSpPr>
        <p:spPr>
          <a:xfrm>
            <a:off x="6693408" y="1435608"/>
            <a:ext cx="1828800" cy="32004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United Kingdom</a:t>
            </a:r>
            <a:endParaRPr lang="en-US" sz="1300" dirty="0"/>
          </a:p>
        </p:txBody>
      </p:sp>
      <p:sp>
        <p:nvSpPr>
          <p:cNvPr id="15" name="Text 10"/>
          <p:cNvSpPr/>
          <p:nvPr/>
        </p:nvSpPr>
        <p:spPr>
          <a:xfrm>
            <a:off x="6355080" y="1783080"/>
            <a:ext cx="2194560" cy="1051560"/>
          </a:xfrm>
          <a:prstGeom prst="rect">
            <a:avLst/>
          </a:prstGeom>
          <a:noFill/>
          <a:ln/>
        </p:spPr>
        <p:txBody>
          <a:bodyPr wrap="square" lIns="0" tIns="0" rIns="0" bIns="0" rtlCol="0" anchor="t"/>
          <a:lstStyle/>
          <a:p>
            <a:pPr marL="342900" indent="-342900">
              <a:spcAft>
                <a:spcPts val="400"/>
              </a:spcAft>
              <a:buSzPct val="100000"/>
              <a:buChar char="•"/>
            </a:pPr>
            <a:r>
              <a:rPr lang="en-US" sz="900" dirty="0">
                <a:solidFill>
                  <a:srgbClr val="64748B"/>
                </a:solidFill>
                <a:latin typeface="Calibri" pitchFamily="34" charset="0"/>
                <a:ea typeface="Calibri" pitchFamily="34" charset="-122"/>
                <a:cs typeface="Calibri" pitchFamily="34" charset="-120"/>
              </a:rPr>
              <a:t>FCA digital securities sandbox operational</a:t>
            </a:r>
            <a:endParaRPr lang="en-US" sz="900" dirty="0"/>
          </a:p>
          <a:p>
            <a:pPr marL="342900" indent="-342900">
              <a:spcAft>
                <a:spcPts val="400"/>
              </a:spcAft>
              <a:buSzPct val="100000"/>
              <a:buChar char="•"/>
            </a:pPr>
            <a:r>
              <a:rPr lang="en-US" sz="900" dirty="0">
                <a:solidFill>
                  <a:srgbClr val="64748B"/>
                </a:solidFill>
                <a:latin typeface="Calibri" pitchFamily="34" charset="0"/>
                <a:ea typeface="Calibri" pitchFamily="34" charset="-122"/>
                <a:cs typeface="Calibri" pitchFamily="34" charset="-120"/>
              </a:rPr>
              <a:t>HM Treasury digital gilts pilot announced</a:t>
            </a:r>
            <a:endParaRPr lang="en-US" sz="900" dirty="0"/>
          </a:p>
          <a:p>
            <a:pPr marL="342900" indent="-342900">
              <a:spcAft>
                <a:spcPts val="400"/>
              </a:spcAft>
              <a:buSzPct val="100000"/>
              <a:buChar char="•"/>
            </a:pPr>
            <a:r>
              <a:rPr lang="en-US" sz="900" dirty="0">
                <a:solidFill>
                  <a:srgbClr val="64748B"/>
                </a:solidFill>
                <a:latin typeface="Calibri" pitchFamily="34" charset="0"/>
                <a:ea typeface="Calibri" pitchFamily="34" charset="-122"/>
                <a:cs typeface="Calibri" pitchFamily="34" charset="-120"/>
              </a:rPr>
              <a:t>Property (Digital Assets) Bill in progress</a:t>
            </a:r>
            <a:endParaRPr lang="en-US" sz="900" dirty="0"/>
          </a:p>
        </p:txBody>
      </p:sp>
      <p:sp>
        <p:nvSpPr>
          <p:cNvPr id="16" name="Shape 11"/>
          <p:cNvSpPr/>
          <p:nvPr/>
        </p:nvSpPr>
        <p:spPr>
          <a:xfrm>
            <a:off x="457200" y="3246120"/>
            <a:ext cx="2468880" cy="1600200"/>
          </a:xfrm>
          <a:prstGeom prst="roundRect">
            <a:avLst>
              <a:gd name="adj" fmla="val 6857"/>
            </a:avLst>
          </a:prstGeom>
          <a:solidFill>
            <a:srgbClr val="FFF7ED"/>
          </a:solidFill>
          <a:ln/>
          <a:effectLst>
            <a:outerShdw sx="100000" sy="100000" kx="0" ky="0" algn="bl" rotWithShape="0" blurRad="76200" dist="25400" dir="2700000">
              <a:srgbClr val="000000">
                <a:alpha val="10000"/>
              </a:srgbClr>
            </a:outerShdw>
          </a:effectLst>
        </p:spPr>
      </p:sp>
      <p:pic>
        <p:nvPicPr>
          <p:cNvPr id="17" name="Image 3" descr="preencoded.png">    </p:cNvPr>
          <p:cNvPicPr>
            <a:picLocks noChangeAspect="1"/>
          </p:cNvPicPr>
          <p:nvPr/>
        </p:nvPicPr>
        <p:blipFill>
          <a:blip r:embed="rId4"/>
          <a:stretch>
            <a:fillRect/>
          </a:stretch>
        </p:blipFill>
        <p:spPr>
          <a:xfrm>
            <a:off x="566928" y="3355848"/>
            <a:ext cx="320040" cy="320040"/>
          </a:xfrm>
          <a:prstGeom prst="rect">
            <a:avLst/>
          </a:prstGeom>
        </p:spPr>
      </p:pic>
      <p:sp>
        <p:nvSpPr>
          <p:cNvPr id="18" name="Text 12"/>
          <p:cNvSpPr/>
          <p:nvPr/>
        </p:nvSpPr>
        <p:spPr>
          <a:xfrm>
            <a:off x="932688" y="3355848"/>
            <a:ext cx="1828800" cy="32004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Singapore</a:t>
            </a:r>
            <a:endParaRPr lang="en-US" sz="1300" dirty="0"/>
          </a:p>
        </p:txBody>
      </p:sp>
      <p:sp>
        <p:nvSpPr>
          <p:cNvPr id="19" name="Text 13"/>
          <p:cNvSpPr/>
          <p:nvPr/>
        </p:nvSpPr>
        <p:spPr>
          <a:xfrm>
            <a:off x="594360" y="3703320"/>
            <a:ext cx="2194560" cy="1051560"/>
          </a:xfrm>
          <a:prstGeom prst="rect">
            <a:avLst/>
          </a:prstGeom>
          <a:noFill/>
          <a:ln/>
        </p:spPr>
        <p:txBody>
          <a:bodyPr wrap="square" lIns="0" tIns="0" rIns="0" bIns="0" rtlCol="0" anchor="t"/>
          <a:lstStyle/>
          <a:p>
            <a:pPr marL="342900" indent="-342900">
              <a:spcAft>
                <a:spcPts val="400"/>
              </a:spcAft>
              <a:buSzPct val="100000"/>
              <a:buChar char="•"/>
            </a:pPr>
            <a:r>
              <a:rPr lang="en-US" sz="900" dirty="0">
                <a:solidFill>
                  <a:srgbClr val="64748B"/>
                </a:solidFill>
                <a:latin typeface="Calibri" pitchFamily="34" charset="0"/>
                <a:ea typeface="Calibri" pitchFamily="34" charset="-122"/>
                <a:cs typeface="Calibri" pitchFamily="34" charset="-120"/>
              </a:rPr>
              <a:t>MAS Project Guardian: institutional DeFi pilots</a:t>
            </a:r>
            <a:endParaRPr lang="en-US" sz="900" dirty="0"/>
          </a:p>
          <a:p>
            <a:pPr marL="342900" indent="-342900">
              <a:spcAft>
                <a:spcPts val="400"/>
              </a:spcAft>
              <a:buSzPct val="100000"/>
              <a:buChar char="•"/>
            </a:pPr>
            <a:r>
              <a:rPr lang="en-US" sz="900" dirty="0">
                <a:solidFill>
                  <a:srgbClr val="64748B"/>
                </a:solidFill>
                <a:latin typeface="Calibri" pitchFamily="34" charset="0"/>
                <a:ea typeface="Calibri" pitchFamily="34" charset="-122"/>
                <a:cs typeface="Calibri" pitchFamily="34" charset="-120"/>
              </a:rPr>
              <a:t>Global Layer One interoperability initiative</a:t>
            </a:r>
            <a:endParaRPr lang="en-US" sz="900" dirty="0"/>
          </a:p>
          <a:p>
            <a:pPr marL="342900" indent="-342900">
              <a:spcAft>
                <a:spcPts val="400"/>
              </a:spcAft>
              <a:buSzPct val="100000"/>
              <a:buChar char="•"/>
            </a:pPr>
            <a:r>
              <a:rPr lang="en-US" sz="900" dirty="0">
                <a:solidFill>
                  <a:srgbClr val="64748B"/>
                </a:solidFill>
                <a:latin typeface="Calibri" pitchFamily="34" charset="0"/>
                <a:ea typeface="Calibri" pitchFamily="34" charset="-122"/>
                <a:cs typeface="Calibri" pitchFamily="34" charset="-120"/>
              </a:rPr>
              <a:t>Variable Capital Company tokenized fund regime</a:t>
            </a:r>
            <a:endParaRPr lang="en-US" sz="900" dirty="0"/>
          </a:p>
        </p:txBody>
      </p:sp>
      <p:sp>
        <p:nvSpPr>
          <p:cNvPr id="20" name="Shape 14"/>
          <p:cNvSpPr/>
          <p:nvPr/>
        </p:nvSpPr>
        <p:spPr>
          <a:xfrm>
            <a:off x="3337560" y="3246120"/>
            <a:ext cx="2468880" cy="1600200"/>
          </a:xfrm>
          <a:prstGeom prst="roundRect">
            <a:avLst>
              <a:gd name="adj" fmla="val 6857"/>
            </a:avLst>
          </a:prstGeom>
          <a:solidFill>
            <a:srgbClr val="F0FDF4"/>
          </a:solidFill>
          <a:ln/>
          <a:effectLst>
            <a:outerShdw sx="100000" sy="100000" kx="0" ky="0" algn="bl" rotWithShape="0" blurRad="76200" dist="25400" dir="2700000">
              <a:srgbClr val="000000">
                <a:alpha val="10000"/>
              </a:srgbClr>
            </a:outerShdw>
          </a:effectLst>
        </p:spPr>
      </p:sp>
      <p:pic>
        <p:nvPicPr>
          <p:cNvPr id="21" name="Image 4" descr="preencoded.png">    </p:cNvPr>
          <p:cNvPicPr>
            <a:picLocks noChangeAspect="1"/>
          </p:cNvPicPr>
          <p:nvPr/>
        </p:nvPicPr>
        <p:blipFill>
          <a:blip r:embed="rId5"/>
          <a:stretch>
            <a:fillRect/>
          </a:stretch>
        </p:blipFill>
        <p:spPr>
          <a:xfrm>
            <a:off x="3447288" y="3355848"/>
            <a:ext cx="320040" cy="320040"/>
          </a:xfrm>
          <a:prstGeom prst="rect">
            <a:avLst/>
          </a:prstGeom>
        </p:spPr>
      </p:pic>
      <p:sp>
        <p:nvSpPr>
          <p:cNvPr id="22" name="Text 15"/>
          <p:cNvSpPr/>
          <p:nvPr/>
        </p:nvSpPr>
        <p:spPr>
          <a:xfrm>
            <a:off x="3813048" y="3355848"/>
            <a:ext cx="1828800" cy="32004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UAE</a:t>
            </a:r>
            <a:endParaRPr lang="en-US" sz="1300" dirty="0"/>
          </a:p>
        </p:txBody>
      </p:sp>
      <p:sp>
        <p:nvSpPr>
          <p:cNvPr id="23" name="Text 16"/>
          <p:cNvSpPr/>
          <p:nvPr/>
        </p:nvSpPr>
        <p:spPr>
          <a:xfrm>
            <a:off x="3474720" y="3703320"/>
            <a:ext cx="2194560" cy="1051560"/>
          </a:xfrm>
          <a:prstGeom prst="rect">
            <a:avLst/>
          </a:prstGeom>
          <a:noFill/>
          <a:ln/>
        </p:spPr>
        <p:txBody>
          <a:bodyPr wrap="square" lIns="0" tIns="0" rIns="0" bIns="0" rtlCol="0" anchor="t"/>
          <a:lstStyle/>
          <a:p>
            <a:pPr marL="342900" indent="-342900">
              <a:spcAft>
                <a:spcPts val="400"/>
              </a:spcAft>
              <a:buSzPct val="100000"/>
              <a:buChar char="•"/>
            </a:pPr>
            <a:r>
              <a:rPr lang="en-US" sz="900" dirty="0">
                <a:solidFill>
                  <a:srgbClr val="64748B"/>
                </a:solidFill>
                <a:latin typeface="Calibri" pitchFamily="34" charset="0"/>
                <a:ea typeface="Calibri" pitchFamily="34" charset="-122"/>
                <a:cs typeface="Calibri" pitchFamily="34" charset="-120"/>
              </a:rPr>
              <a:t>VARA comprehensive virtual asset framework</a:t>
            </a:r>
            <a:endParaRPr lang="en-US" sz="900" dirty="0"/>
          </a:p>
          <a:p>
            <a:pPr marL="342900" indent="-342900">
              <a:spcAft>
                <a:spcPts val="400"/>
              </a:spcAft>
              <a:buSzPct val="100000"/>
              <a:buChar char="•"/>
            </a:pPr>
            <a:r>
              <a:rPr lang="en-US" sz="900" dirty="0">
                <a:solidFill>
                  <a:srgbClr val="64748B"/>
                </a:solidFill>
                <a:latin typeface="Calibri" pitchFamily="34" charset="0"/>
                <a:ea typeface="Calibri" pitchFamily="34" charset="-122"/>
                <a:cs typeface="Calibri" pitchFamily="34" charset="-120"/>
              </a:rPr>
              <a:t>ADGM RegLab for tokenized securities</a:t>
            </a:r>
            <a:endParaRPr lang="en-US" sz="900" dirty="0"/>
          </a:p>
          <a:p>
            <a:pPr marL="342900" indent="-342900">
              <a:spcAft>
                <a:spcPts val="400"/>
              </a:spcAft>
              <a:buSzPct val="100000"/>
              <a:buChar char="•"/>
            </a:pPr>
            <a:r>
              <a:rPr lang="en-US" sz="900" dirty="0">
                <a:solidFill>
                  <a:srgbClr val="64748B"/>
                </a:solidFill>
                <a:latin typeface="Calibri" pitchFamily="34" charset="0"/>
                <a:ea typeface="Calibri" pitchFamily="34" charset="-122"/>
                <a:cs typeface="Calibri" pitchFamily="34" charset="-120"/>
              </a:rPr>
              <a:t>DIFC Innovation Hub licensing regime</a:t>
            </a:r>
            <a:endParaRPr lang="en-US" sz="900" dirty="0"/>
          </a:p>
        </p:txBody>
      </p:sp>
      <p:sp>
        <p:nvSpPr>
          <p:cNvPr id="24" name="Shape 17"/>
          <p:cNvSpPr/>
          <p:nvPr/>
        </p:nvSpPr>
        <p:spPr>
          <a:xfrm>
            <a:off x="6217920" y="3246120"/>
            <a:ext cx="2468880" cy="1600200"/>
          </a:xfrm>
          <a:prstGeom prst="roundRect">
            <a:avLst>
              <a:gd name="adj" fmla="val 6857"/>
            </a:avLst>
          </a:prstGeom>
          <a:solidFill>
            <a:srgbClr val="FEF2F2"/>
          </a:solidFill>
          <a:ln/>
          <a:effectLst>
            <a:outerShdw sx="100000" sy="100000" kx="0" ky="0" algn="bl" rotWithShape="0" blurRad="76200" dist="25400" dir="2700000">
              <a:srgbClr val="000000">
                <a:alpha val="10000"/>
              </a:srgbClr>
            </a:outerShdw>
          </a:effectLst>
        </p:spPr>
      </p:sp>
      <p:pic>
        <p:nvPicPr>
          <p:cNvPr id="25" name="Image 5" descr="preencoded.png">    </p:cNvPr>
          <p:cNvPicPr>
            <a:picLocks noChangeAspect="1"/>
          </p:cNvPicPr>
          <p:nvPr/>
        </p:nvPicPr>
        <p:blipFill>
          <a:blip r:embed="rId6"/>
          <a:stretch>
            <a:fillRect/>
          </a:stretch>
        </p:blipFill>
        <p:spPr>
          <a:xfrm>
            <a:off x="6327648" y="3355848"/>
            <a:ext cx="320040" cy="320040"/>
          </a:xfrm>
          <a:prstGeom prst="rect">
            <a:avLst/>
          </a:prstGeom>
        </p:spPr>
      </p:pic>
      <p:sp>
        <p:nvSpPr>
          <p:cNvPr id="26" name="Text 18"/>
          <p:cNvSpPr/>
          <p:nvPr/>
        </p:nvSpPr>
        <p:spPr>
          <a:xfrm>
            <a:off x="6693408" y="3355848"/>
            <a:ext cx="1828800" cy="32004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Japan</a:t>
            </a:r>
            <a:endParaRPr lang="en-US" sz="1300" dirty="0"/>
          </a:p>
        </p:txBody>
      </p:sp>
      <p:sp>
        <p:nvSpPr>
          <p:cNvPr id="27" name="Text 19"/>
          <p:cNvSpPr/>
          <p:nvPr/>
        </p:nvSpPr>
        <p:spPr>
          <a:xfrm>
            <a:off x="6355080" y="3703320"/>
            <a:ext cx="2194560" cy="1051560"/>
          </a:xfrm>
          <a:prstGeom prst="rect">
            <a:avLst/>
          </a:prstGeom>
          <a:noFill/>
          <a:ln/>
        </p:spPr>
        <p:txBody>
          <a:bodyPr wrap="square" lIns="0" tIns="0" rIns="0" bIns="0" rtlCol="0" anchor="t"/>
          <a:lstStyle/>
          <a:p>
            <a:pPr marL="342900" indent="-342900">
              <a:spcAft>
                <a:spcPts val="400"/>
              </a:spcAft>
              <a:buSzPct val="100000"/>
              <a:buChar char="•"/>
            </a:pPr>
            <a:r>
              <a:rPr lang="en-US" sz="900" dirty="0">
                <a:solidFill>
                  <a:srgbClr val="64748B"/>
                </a:solidFill>
                <a:latin typeface="Calibri" pitchFamily="34" charset="0"/>
                <a:ea typeface="Calibri" pitchFamily="34" charset="-122"/>
                <a:cs typeface="Calibri" pitchFamily="34" charset="-120"/>
              </a:rPr>
              <a:t>Revised FIEA enabling security token offerings</a:t>
            </a:r>
            <a:endParaRPr lang="en-US" sz="900" dirty="0"/>
          </a:p>
          <a:p>
            <a:pPr marL="342900" indent="-342900">
              <a:spcAft>
                <a:spcPts val="400"/>
              </a:spcAft>
              <a:buSzPct val="100000"/>
              <a:buChar char="•"/>
            </a:pPr>
            <a:r>
              <a:rPr lang="en-US" sz="900" dirty="0">
                <a:solidFill>
                  <a:srgbClr val="64748B"/>
                </a:solidFill>
                <a:latin typeface="Calibri" pitchFamily="34" charset="0"/>
                <a:ea typeface="Calibri" pitchFamily="34" charset="-122"/>
                <a:cs typeface="Calibri" pitchFamily="34" charset="-120"/>
              </a:rPr>
              <a:t>JPX/SBI digital securities exchange live</a:t>
            </a:r>
            <a:endParaRPr lang="en-US" sz="900" dirty="0"/>
          </a:p>
          <a:p>
            <a:pPr marL="342900" indent="-342900">
              <a:spcAft>
                <a:spcPts val="400"/>
              </a:spcAft>
              <a:buSzPct val="100000"/>
              <a:buChar char="•"/>
            </a:pPr>
            <a:r>
              <a:rPr lang="en-US" sz="900" dirty="0">
                <a:solidFill>
                  <a:srgbClr val="64748B"/>
                </a:solidFill>
                <a:latin typeface="Calibri" pitchFamily="34" charset="0"/>
                <a:ea typeface="Calibri" pitchFamily="34" charset="-122"/>
                <a:cs typeface="Calibri" pitchFamily="34" charset="-120"/>
              </a:rPr>
              <a:t>Stablecoin regulation under revised PSA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502920"/>
          </a:xfrm>
          <a:prstGeom prst="rect">
            <a:avLst/>
          </a:prstGeom>
          <a:noFill/>
          <a:ln/>
        </p:spPr>
        <p:txBody>
          <a:bodyPr wrap="square" lIns="0" tIns="0" rIns="0" bIns="0" rtlCol="0" anchor="ctr"/>
          <a:lstStyle/>
          <a:p>
            <a:pPr indent="0" marL="0">
              <a:buNone/>
            </a:pPr>
            <a:r>
              <a:rPr lang="en-US" sz="2400" b="1" dirty="0">
                <a:solidFill>
                  <a:srgbClr val="1E293B"/>
                </a:solidFill>
                <a:latin typeface="Calibri" pitchFamily="34" charset="0"/>
                <a:ea typeface="Calibri" pitchFamily="34" charset="-122"/>
                <a:cs typeface="Calibri" pitchFamily="34" charset="-120"/>
              </a:rPr>
              <a:t>Tokenization Landscape: Key Players Across Asset Classes</a:t>
            </a:r>
            <a:endParaRPr lang="en-US" sz="2400" dirty="0"/>
          </a:p>
        </p:txBody>
      </p:sp>
      <p:sp>
        <p:nvSpPr>
          <p:cNvPr id="3" name="Text 1"/>
          <p:cNvSpPr/>
          <p:nvPr/>
        </p:nvSpPr>
        <p:spPr>
          <a:xfrm>
            <a:off x="640080" y="731520"/>
            <a:ext cx="786384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Representative firms spanning asset managers, platforms, infrastructure, and exchanges</a:t>
            </a:r>
            <a:endParaRPr lang="en-US" sz="1100" dirty="0"/>
          </a:p>
        </p:txBody>
      </p:sp>
      <p:sp>
        <p:nvSpPr>
          <p:cNvPr id="4" name="Shape 2"/>
          <p:cNvSpPr/>
          <p:nvPr/>
        </p:nvSpPr>
        <p:spPr>
          <a:xfrm>
            <a:off x="457200" y="1097280"/>
            <a:ext cx="1325880" cy="621792"/>
          </a:xfrm>
          <a:prstGeom prst="roundRect">
            <a:avLst>
              <a:gd name="adj" fmla="val 11765"/>
            </a:avLst>
          </a:prstGeom>
          <a:solidFill>
            <a:srgbClr val="0F766E"/>
          </a:solidFill>
          <a:ln/>
        </p:spPr>
      </p:sp>
      <p:sp>
        <p:nvSpPr>
          <p:cNvPr id="5" name="Text 3"/>
          <p:cNvSpPr/>
          <p:nvPr/>
        </p:nvSpPr>
        <p:spPr>
          <a:xfrm>
            <a:off x="530352" y="1097280"/>
            <a:ext cx="1179576" cy="6217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Asset Managers</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&amp; Issuers</a:t>
            </a:r>
            <a:endParaRPr lang="en-US" sz="950" dirty="0"/>
          </a:p>
        </p:txBody>
      </p:sp>
      <p:sp>
        <p:nvSpPr>
          <p:cNvPr id="6" name="Shape 4"/>
          <p:cNvSpPr/>
          <p:nvPr/>
        </p:nvSpPr>
        <p:spPr>
          <a:xfrm>
            <a:off x="1920240" y="1097280"/>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7" name="Text 5"/>
          <p:cNvSpPr/>
          <p:nvPr/>
        </p:nvSpPr>
        <p:spPr>
          <a:xfrm>
            <a:off x="1965960" y="1097280"/>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BlackRock (BUIDL)</a:t>
            </a:r>
            <a:endParaRPr lang="en-US" sz="850" dirty="0"/>
          </a:p>
        </p:txBody>
      </p:sp>
      <p:sp>
        <p:nvSpPr>
          <p:cNvPr id="8" name="Shape 6"/>
          <p:cNvSpPr/>
          <p:nvPr/>
        </p:nvSpPr>
        <p:spPr>
          <a:xfrm>
            <a:off x="3026664" y="1097280"/>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9" name="Text 7"/>
          <p:cNvSpPr/>
          <p:nvPr/>
        </p:nvSpPr>
        <p:spPr>
          <a:xfrm>
            <a:off x="3072384" y="1097280"/>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Franklin Templeton</a:t>
            </a:r>
            <a:endParaRPr lang="en-US" sz="850" dirty="0"/>
          </a:p>
        </p:txBody>
      </p:sp>
      <p:sp>
        <p:nvSpPr>
          <p:cNvPr id="10" name="Shape 8"/>
          <p:cNvSpPr/>
          <p:nvPr/>
        </p:nvSpPr>
        <p:spPr>
          <a:xfrm>
            <a:off x="4133088" y="1097280"/>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11" name="Text 9"/>
          <p:cNvSpPr/>
          <p:nvPr/>
        </p:nvSpPr>
        <p:spPr>
          <a:xfrm>
            <a:off x="4178808" y="1097280"/>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Hamilton Lane</a:t>
            </a:r>
            <a:endParaRPr lang="en-US" sz="850" dirty="0"/>
          </a:p>
        </p:txBody>
      </p:sp>
      <p:sp>
        <p:nvSpPr>
          <p:cNvPr id="12" name="Shape 10"/>
          <p:cNvSpPr/>
          <p:nvPr/>
        </p:nvSpPr>
        <p:spPr>
          <a:xfrm>
            <a:off x="5239512" y="1097280"/>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13" name="Text 11"/>
          <p:cNvSpPr/>
          <p:nvPr/>
        </p:nvSpPr>
        <p:spPr>
          <a:xfrm>
            <a:off x="5285232" y="1097280"/>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KKR</a:t>
            </a:r>
            <a:endParaRPr lang="en-US" sz="850" dirty="0"/>
          </a:p>
        </p:txBody>
      </p:sp>
      <p:sp>
        <p:nvSpPr>
          <p:cNvPr id="14" name="Shape 12"/>
          <p:cNvSpPr/>
          <p:nvPr/>
        </p:nvSpPr>
        <p:spPr>
          <a:xfrm>
            <a:off x="6345936" y="1097280"/>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15" name="Text 13"/>
          <p:cNvSpPr/>
          <p:nvPr/>
        </p:nvSpPr>
        <p:spPr>
          <a:xfrm>
            <a:off x="6391656" y="1097280"/>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Apollo</a:t>
            </a:r>
            <a:endParaRPr lang="en-US" sz="850" dirty="0"/>
          </a:p>
        </p:txBody>
      </p:sp>
      <p:sp>
        <p:nvSpPr>
          <p:cNvPr id="16" name="Shape 14"/>
          <p:cNvSpPr/>
          <p:nvPr/>
        </p:nvSpPr>
        <p:spPr>
          <a:xfrm>
            <a:off x="7452360" y="1097280"/>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17" name="Text 15"/>
          <p:cNvSpPr/>
          <p:nvPr/>
        </p:nvSpPr>
        <p:spPr>
          <a:xfrm>
            <a:off x="7498080" y="1097280"/>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WisdomTree</a:t>
            </a:r>
            <a:endParaRPr lang="en-US" sz="850" dirty="0"/>
          </a:p>
        </p:txBody>
      </p:sp>
      <p:sp>
        <p:nvSpPr>
          <p:cNvPr id="18" name="Shape 16"/>
          <p:cNvSpPr/>
          <p:nvPr/>
        </p:nvSpPr>
        <p:spPr>
          <a:xfrm>
            <a:off x="457200" y="1792224"/>
            <a:ext cx="1325880" cy="621792"/>
          </a:xfrm>
          <a:prstGeom prst="roundRect">
            <a:avLst>
              <a:gd name="adj" fmla="val 11765"/>
            </a:avLst>
          </a:prstGeom>
          <a:solidFill>
            <a:srgbClr val="0E7490"/>
          </a:solidFill>
          <a:ln/>
        </p:spPr>
      </p:sp>
      <p:sp>
        <p:nvSpPr>
          <p:cNvPr id="19" name="Text 17"/>
          <p:cNvSpPr/>
          <p:nvPr/>
        </p:nvSpPr>
        <p:spPr>
          <a:xfrm>
            <a:off x="530352" y="1792224"/>
            <a:ext cx="1179576" cy="6217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Tokenization</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Platforms</a:t>
            </a:r>
            <a:endParaRPr lang="en-US" sz="950" dirty="0"/>
          </a:p>
        </p:txBody>
      </p:sp>
      <p:sp>
        <p:nvSpPr>
          <p:cNvPr id="20" name="Shape 18"/>
          <p:cNvSpPr/>
          <p:nvPr/>
        </p:nvSpPr>
        <p:spPr>
          <a:xfrm>
            <a:off x="1920240" y="1792224"/>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21" name="Text 19"/>
          <p:cNvSpPr/>
          <p:nvPr/>
        </p:nvSpPr>
        <p:spPr>
          <a:xfrm>
            <a:off x="1965960" y="1792224"/>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Securitize</a:t>
            </a:r>
            <a:endParaRPr lang="en-US" sz="850" dirty="0"/>
          </a:p>
        </p:txBody>
      </p:sp>
      <p:sp>
        <p:nvSpPr>
          <p:cNvPr id="22" name="Shape 20"/>
          <p:cNvSpPr/>
          <p:nvPr/>
        </p:nvSpPr>
        <p:spPr>
          <a:xfrm>
            <a:off x="3026664" y="1792224"/>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23" name="Text 21"/>
          <p:cNvSpPr/>
          <p:nvPr/>
        </p:nvSpPr>
        <p:spPr>
          <a:xfrm>
            <a:off x="3072384" y="1792224"/>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Figure (FIGR)</a:t>
            </a:r>
            <a:endParaRPr lang="en-US" sz="850" dirty="0"/>
          </a:p>
        </p:txBody>
      </p:sp>
      <p:sp>
        <p:nvSpPr>
          <p:cNvPr id="24" name="Shape 22"/>
          <p:cNvSpPr/>
          <p:nvPr/>
        </p:nvSpPr>
        <p:spPr>
          <a:xfrm>
            <a:off x="4133088" y="1792224"/>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25" name="Text 23"/>
          <p:cNvSpPr/>
          <p:nvPr/>
        </p:nvSpPr>
        <p:spPr>
          <a:xfrm>
            <a:off x="4178808" y="1792224"/>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Ondo Finance</a:t>
            </a:r>
            <a:endParaRPr lang="en-US" sz="850" dirty="0"/>
          </a:p>
        </p:txBody>
      </p:sp>
      <p:sp>
        <p:nvSpPr>
          <p:cNvPr id="26" name="Shape 24"/>
          <p:cNvSpPr/>
          <p:nvPr/>
        </p:nvSpPr>
        <p:spPr>
          <a:xfrm>
            <a:off x="5239512" y="1792224"/>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27" name="Text 25"/>
          <p:cNvSpPr/>
          <p:nvPr/>
        </p:nvSpPr>
        <p:spPr>
          <a:xfrm>
            <a:off x="5285232" y="1792224"/>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Centrifuge</a:t>
            </a:r>
            <a:endParaRPr lang="en-US" sz="850" dirty="0"/>
          </a:p>
        </p:txBody>
      </p:sp>
      <p:sp>
        <p:nvSpPr>
          <p:cNvPr id="28" name="Shape 26"/>
          <p:cNvSpPr/>
          <p:nvPr/>
        </p:nvSpPr>
        <p:spPr>
          <a:xfrm>
            <a:off x="6345936" y="1792224"/>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29" name="Text 27"/>
          <p:cNvSpPr/>
          <p:nvPr/>
        </p:nvSpPr>
        <p:spPr>
          <a:xfrm>
            <a:off x="6391656" y="1792224"/>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Maple Finance</a:t>
            </a:r>
            <a:endParaRPr lang="en-US" sz="850" dirty="0"/>
          </a:p>
        </p:txBody>
      </p:sp>
      <p:sp>
        <p:nvSpPr>
          <p:cNvPr id="30" name="Shape 28"/>
          <p:cNvSpPr/>
          <p:nvPr/>
        </p:nvSpPr>
        <p:spPr>
          <a:xfrm>
            <a:off x="7452360" y="1792224"/>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31" name="Text 29"/>
          <p:cNvSpPr/>
          <p:nvPr/>
        </p:nvSpPr>
        <p:spPr>
          <a:xfrm>
            <a:off x="7498080" y="1792224"/>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Backed Finance</a:t>
            </a:r>
            <a:endParaRPr lang="en-US" sz="850" dirty="0"/>
          </a:p>
        </p:txBody>
      </p:sp>
      <p:sp>
        <p:nvSpPr>
          <p:cNvPr id="32" name="Shape 30"/>
          <p:cNvSpPr/>
          <p:nvPr/>
        </p:nvSpPr>
        <p:spPr>
          <a:xfrm>
            <a:off x="457200" y="2487168"/>
            <a:ext cx="1325880" cy="621792"/>
          </a:xfrm>
          <a:prstGeom prst="roundRect">
            <a:avLst>
              <a:gd name="adj" fmla="val 11765"/>
            </a:avLst>
          </a:prstGeom>
          <a:solidFill>
            <a:srgbClr val="1D4ED8"/>
          </a:solidFill>
          <a:ln/>
        </p:spPr>
      </p:sp>
      <p:sp>
        <p:nvSpPr>
          <p:cNvPr id="33" name="Text 31"/>
          <p:cNvSpPr/>
          <p:nvPr/>
        </p:nvSpPr>
        <p:spPr>
          <a:xfrm>
            <a:off x="530352" y="2487168"/>
            <a:ext cx="1179576" cy="6217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Blockchain</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Infrastructure</a:t>
            </a:r>
            <a:endParaRPr lang="en-US" sz="950" dirty="0"/>
          </a:p>
        </p:txBody>
      </p:sp>
      <p:sp>
        <p:nvSpPr>
          <p:cNvPr id="34" name="Shape 32"/>
          <p:cNvSpPr/>
          <p:nvPr/>
        </p:nvSpPr>
        <p:spPr>
          <a:xfrm>
            <a:off x="1920240" y="2487168"/>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35" name="Text 33"/>
          <p:cNvSpPr/>
          <p:nvPr/>
        </p:nvSpPr>
        <p:spPr>
          <a:xfrm>
            <a:off x="1965960" y="2487168"/>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Ethereum</a:t>
            </a:r>
            <a:endParaRPr lang="en-US" sz="850" dirty="0"/>
          </a:p>
        </p:txBody>
      </p:sp>
      <p:sp>
        <p:nvSpPr>
          <p:cNvPr id="36" name="Shape 34"/>
          <p:cNvSpPr/>
          <p:nvPr/>
        </p:nvSpPr>
        <p:spPr>
          <a:xfrm>
            <a:off x="3026664" y="2487168"/>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37" name="Text 35"/>
          <p:cNvSpPr/>
          <p:nvPr/>
        </p:nvSpPr>
        <p:spPr>
          <a:xfrm>
            <a:off x="3072384" y="2487168"/>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Solana</a:t>
            </a:r>
            <a:endParaRPr lang="en-US" sz="850" dirty="0"/>
          </a:p>
        </p:txBody>
      </p:sp>
      <p:sp>
        <p:nvSpPr>
          <p:cNvPr id="38" name="Shape 36"/>
          <p:cNvSpPr/>
          <p:nvPr/>
        </p:nvSpPr>
        <p:spPr>
          <a:xfrm>
            <a:off x="4133088" y="2487168"/>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39" name="Text 37"/>
          <p:cNvSpPr/>
          <p:nvPr/>
        </p:nvSpPr>
        <p:spPr>
          <a:xfrm>
            <a:off x="4178808" y="2487168"/>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Avalanche</a:t>
            </a:r>
            <a:endParaRPr lang="en-US" sz="850" dirty="0"/>
          </a:p>
        </p:txBody>
      </p:sp>
      <p:sp>
        <p:nvSpPr>
          <p:cNvPr id="40" name="Shape 38"/>
          <p:cNvSpPr/>
          <p:nvPr/>
        </p:nvSpPr>
        <p:spPr>
          <a:xfrm>
            <a:off x="5239512" y="2487168"/>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41" name="Text 39"/>
          <p:cNvSpPr/>
          <p:nvPr/>
        </p:nvSpPr>
        <p:spPr>
          <a:xfrm>
            <a:off x="5285232" y="2487168"/>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Polygon</a:t>
            </a:r>
            <a:endParaRPr lang="en-US" sz="850" dirty="0"/>
          </a:p>
        </p:txBody>
      </p:sp>
      <p:sp>
        <p:nvSpPr>
          <p:cNvPr id="42" name="Shape 40"/>
          <p:cNvSpPr/>
          <p:nvPr/>
        </p:nvSpPr>
        <p:spPr>
          <a:xfrm>
            <a:off x="6345936" y="2487168"/>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43" name="Text 41"/>
          <p:cNvSpPr/>
          <p:nvPr/>
        </p:nvSpPr>
        <p:spPr>
          <a:xfrm>
            <a:off x="6391656" y="2487168"/>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Canton Network</a:t>
            </a:r>
            <a:endParaRPr lang="en-US" sz="850" dirty="0"/>
          </a:p>
        </p:txBody>
      </p:sp>
      <p:sp>
        <p:nvSpPr>
          <p:cNvPr id="44" name="Shape 42"/>
          <p:cNvSpPr/>
          <p:nvPr/>
        </p:nvSpPr>
        <p:spPr>
          <a:xfrm>
            <a:off x="7452360" y="2487168"/>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45" name="Text 43"/>
          <p:cNvSpPr/>
          <p:nvPr/>
        </p:nvSpPr>
        <p:spPr>
          <a:xfrm>
            <a:off x="7498080" y="2487168"/>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Provenance</a:t>
            </a:r>
            <a:endParaRPr lang="en-US" sz="850" dirty="0"/>
          </a:p>
        </p:txBody>
      </p:sp>
      <p:sp>
        <p:nvSpPr>
          <p:cNvPr id="46" name="Shape 44"/>
          <p:cNvSpPr/>
          <p:nvPr/>
        </p:nvSpPr>
        <p:spPr>
          <a:xfrm>
            <a:off x="457200" y="3182112"/>
            <a:ext cx="1325880" cy="621792"/>
          </a:xfrm>
          <a:prstGeom prst="roundRect">
            <a:avLst>
              <a:gd name="adj" fmla="val 11765"/>
            </a:avLst>
          </a:prstGeom>
          <a:solidFill>
            <a:srgbClr val="7C3AED"/>
          </a:solidFill>
          <a:ln/>
        </p:spPr>
      </p:sp>
      <p:sp>
        <p:nvSpPr>
          <p:cNvPr id="47" name="Text 45"/>
          <p:cNvSpPr/>
          <p:nvPr/>
        </p:nvSpPr>
        <p:spPr>
          <a:xfrm>
            <a:off x="530352" y="3182112"/>
            <a:ext cx="1179576" cy="6217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Exchanges &amp;</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Marketplaces</a:t>
            </a:r>
            <a:endParaRPr lang="en-US" sz="950" dirty="0"/>
          </a:p>
        </p:txBody>
      </p:sp>
      <p:sp>
        <p:nvSpPr>
          <p:cNvPr id="48" name="Shape 46"/>
          <p:cNvSpPr/>
          <p:nvPr/>
        </p:nvSpPr>
        <p:spPr>
          <a:xfrm>
            <a:off x="1920240" y="3182112"/>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49" name="Text 47"/>
          <p:cNvSpPr/>
          <p:nvPr/>
        </p:nvSpPr>
        <p:spPr>
          <a:xfrm>
            <a:off x="1965960" y="3182112"/>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NASDAQ</a:t>
            </a:r>
            <a:endParaRPr lang="en-US" sz="850" dirty="0"/>
          </a:p>
        </p:txBody>
      </p:sp>
      <p:sp>
        <p:nvSpPr>
          <p:cNvPr id="50" name="Shape 48"/>
          <p:cNvSpPr/>
          <p:nvPr/>
        </p:nvSpPr>
        <p:spPr>
          <a:xfrm>
            <a:off x="3026664" y="3182112"/>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51" name="Text 49"/>
          <p:cNvSpPr/>
          <p:nvPr/>
        </p:nvSpPr>
        <p:spPr>
          <a:xfrm>
            <a:off x="3072384" y="3182112"/>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NYSE</a:t>
            </a:r>
            <a:endParaRPr lang="en-US" sz="850" dirty="0"/>
          </a:p>
        </p:txBody>
      </p:sp>
      <p:sp>
        <p:nvSpPr>
          <p:cNvPr id="52" name="Shape 50"/>
          <p:cNvSpPr/>
          <p:nvPr/>
        </p:nvSpPr>
        <p:spPr>
          <a:xfrm>
            <a:off x="4133088" y="3182112"/>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53" name="Text 51"/>
          <p:cNvSpPr/>
          <p:nvPr/>
        </p:nvSpPr>
        <p:spPr>
          <a:xfrm>
            <a:off x="4178808" y="3182112"/>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Coinbase</a:t>
            </a:r>
            <a:endParaRPr lang="en-US" sz="850" dirty="0"/>
          </a:p>
        </p:txBody>
      </p:sp>
      <p:sp>
        <p:nvSpPr>
          <p:cNvPr id="54" name="Shape 52"/>
          <p:cNvSpPr/>
          <p:nvPr/>
        </p:nvSpPr>
        <p:spPr>
          <a:xfrm>
            <a:off x="5239512" y="3182112"/>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55" name="Text 53"/>
          <p:cNvSpPr/>
          <p:nvPr/>
        </p:nvSpPr>
        <p:spPr>
          <a:xfrm>
            <a:off x="5285232" y="3182112"/>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Bullish (BLSH)</a:t>
            </a:r>
            <a:endParaRPr lang="en-US" sz="850" dirty="0"/>
          </a:p>
        </p:txBody>
      </p:sp>
      <p:sp>
        <p:nvSpPr>
          <p:cNvPr id="56" name="Shape 54"/>
          <p:cNvSpPr/>
          <p:nvPr/>
        </p:nvSpPr>
        <p:spPr>
          <a:xfrm>
            <a:off x="6345936" y="3182112"/>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57" name="Text 55"/>
          <p:cNvSpPr/>
          <p:nvPr/>
        </p:nvSpPr>
        <p:spPr>
          <a:xfrm>
            <a:off x="6391656" y="3182112"/>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INX Digital</a:t>
            </a:r>
            <a:endParaRPr lang="en-US" sz="850" dirty="0"/>
          </a:p>
        </p:txBody>
      </p:sp>
      <p:sp>
        <p:nvSpPr>
          <p:cNvPr id="58" name="Shape 56"/>
          <p:cNvSpPr/>
          <p:nvPr/>
        </p:nvSpPr>
        <p:spPr>
          <a:xfrm>
            <a:off x="7452360" y="3182112"/>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59" name="Text 57"/>
          <p:cNvSpPr/>
          <p:nvPr/>
        </p:nvSpPr>
        <p:spPr>
          <a:xfrm>
            <a:off x="7498080" y="3182112"/>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tZERO</a:t>
            </a:r>
            <a:endParaRPr lang="en-US" sz="850" dirty="0"/>
          </a:p>
        </p:txBody>
      </p:sp>
      <p:sp>
        <p:nvSpPr>
          <p:cNvPr id="60" name="Shape 58"/>
          <p:cNvSpPr/>
          <p:nvPr/>
        </p:nvSpPr>
        <p:spPr>
          <a:xfrm>
            <a:off x="457200" y="3877056"/>
            <a:ext cx="1325880" cy="621792"/>
          </a:xfrm>
          <a:prstGeom prst="roundRect">
            <a:avLst>
              <a:gd name="adj" fmla="val 11765"/>
            </a:avLst>
          </a:prstGeom>
          <a:solidFill>
            <a:srgbClr val="BE185D"/>
          </a:solidFill>
          <a:ln/>
        </p:spPr>
      </p:sp>
      <p:sp>
        <p:nvSpPr>
          <p:cNvPr id="61" name="Text 59"/>
          <p:cNvSpPr/>
          <p:nvPr/>
        </p:nvSpPr>
        <p:spPr>
          <a:xfrm>
            <a:off x="530352" y="3877056"/>
            <a:ext cx="1179576" cy="6217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Custody &amp;</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Settlement</a:t>
            </a:r>
            <a:endParaRPr lang="en-US" sz="950" dirty="0"/>
          </a:p>
        </p:txBody>
      </p:sp>
      <p:sp>
        <p:nvSpPr>
          <p:cNvPr id="62" name="Shape 60"/>
          <p:cNvSpPr/>
          <p:nvPr/>
        </p:nvSpPr>
        <p:spPr>
          <a:xfrm>
            <a:off x="1920240" y="3877056"/>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63" name="Text 61"/>
          <p:cNvSpPr/>
          <p:nvPr/>
        </p:nvSpPr>
        <p:spPr>
          <a:xfrm>
            <a:off x="1965960" y="3877056"/>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DTCC</a:t>
            </a:r>
            <a:endParaRPr lang="en-US" sz="850" dirty="0"/>
          </a:p>
        </p:txBody>
      </p:sp>
      <p:sp>
        <p:nvSpPr>
          <p:cNvPr id="64" name="Shape 62"/>
          <p:cNvSpPr/>
          <p:nvPr/>
        </p:nvSpPr>
        <p:spPr>
          <a:xfrm>
            <a:off x="3026664" y="3877056"/>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65" name="Text 63"/>
          <p:cNvSpPr/>
          <p:nvPr/>
        </p:nvSpPr>
        <p:spPr>
          <a:xfrm>
            <a:off x="3072384" y="3877056"/>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Fireblocks</a:t>
            </a:r>
            <a:endParaRPr lang="en-US" sz="850" dirty="0"/>
          </a:p>
        </p:txBody>
      </p:sp>
      <p:sp>
        <p:nvSpPr>
          <p:cNvPr id="66" name="Shape 64"/>
          <p:cNvSpPr/>
          <p:nvPr/>
        </p:nvSpPr>
        <p:spPr>
          <a:xfrm>
            <a:off x="4133088" y="3877056"/>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67" name="Text 65"/>
          <p:cNvSpPr/>
          <p:nvPr/>
        </p:nvSpPr>
        <p:spPr>
          <a:xfrm>
            <a:off x="4178808" y="3877056"/>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Anchorage Digital</a:t>
            </a:r>
            <a:endParaRPr lang="en-US" sz="850" dirty="0"/>
          </a:p>
        </p:txBody>
      </p:sp>
      <p:sp>
        <p:nvSpPr>
          <p:cNvPr id="68" name="Shape 66"/>
          <p:cNvSpPr/>
          <p:nvPr/>
        </p:nvSpPr>
        <p:spPr>
          <a:xfrm>
            <a:off x="5239512" y="3877056"/>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69" name="Text 67"/>
          <p:cNvSpPr/>
          <p:nvPr/>
        </p:nvSpPr>
        <p:spPr>
          <a:xfrm>
            <a:off x="5285232" y="3877056"/>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Komainu</a:t>
            </a:r>
            <a:endParaRPr lang="en-US" sz="850" dirty="0"/>
          </a:p>
        </p:txBody>
      </p:sp>
      <p:sp>
        <p:nvSpPr>
          <p:cNvPr id="70" name="Shape 68"/>
          <p:cNvSpPr/>
          <p:nvPr/>
        </p:nvSpPr>
        <p:spPr>
          <a:xfrm>
            <a:off x="6345936" y="3877056"/>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71" name="Text 69"/>
          <p:cNvSpPr/>
          <p:nvPr/>
        </p:nvSpPr>
        <p:spPr>
          <a:xfrm>
            <a:off x="6391656" y="3877056"/>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Copper</a:t>
            </a:r>
            <a:endParaRPr lang="en-US" sz="850" dirty="0"/>
          </a:p>
        </p:txBody>
      </p:sp>
      <p:sp>
        <p:nvSpPr>
          <p:cNvPr id="72" name="Shape 70"/>
          <p:cNvSpPr/>
          <p:nvPr/>
        </p:nvSpPr>
        <p:spPr>
          <a:xfrm>
            <a:off x="7452360" y="3877056"/>
            <a:ext cx="1051560" cy="621792"/>
          </a:xfrm>
          <a:prstGeom prst="roundRect">
            <a:avLst>
              <a:gd name="adj" fmla="val 8824"/>
            </a:avLst>
          </a:prstGeom>
          <a:solidFill>
            <a:srgbClr val="F8FAFC"/>
          </a:solidFill>
          <a:ln/>
          <a:effectLst>
            <a:outerShdw sx="100000" sy="100000" kx="0" ky="0" algn="bl" rotWithShape="0" blurRad="50800" dist="12700" dir="2700000">
              <a:srgbClr val="000000">
                <a:alpha val="8000"/>
              </a:srgbClr>
            </a:outerShdw>
          </a:effectLst>
        </p:spPr>
      </p:sp>
      <p:sp>
        <p:nvSpPr>
          <p:cNvPr id="73" name="Text 71"/>
          <p:cNvSpPr/>
          <p:nvPr/>
        </p:nvSpPr>
        <p:spPr>
          <a:xfrm>
            <a:off x="7498080" y="3877056"/>
            <a:ext cx="960120" cy="62179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BitGo</a:t>
            </a:r>
            <a:endParaRPr lang="en-US" sz="850" dirty="0"/>
          </a:p>
        </p:txBody>
      </p:sp>
      <p:sp>
        <p:nvSpPr>
          <p:cNvPr id="74" name="Text 72"/>
          <p:cNvSpPr/>
          <p:nvPr/>
        </p:nvSpPr>
        <p:spPr>
          <a:xfrm>
            <a:off x="640080" y="4709160"/>
            <a:ext cx="7863840" cy="274320"/>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Source: Bernstein Research. For illustrative purposes; not exhaustive.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Tokenization of Real World Assets</dc:title>
  <dc:subject>PptxGenJS Presentation</dc:subject>
  <dc:creator>Bernstein</dc:creator>
  <cp:lastModifiedBy>Bernstein</cp:lastModifiedBy>
  <cp:revision>1</cp:revision>
  <dcterms:created xsi:type="dcterms:W3CDTF">2026-06-29T12:46:53Z</dcterms:created>
  <dcterms:modified xsi:type="dcterms:W3CDTF">2026-06-29T12:46:53Z</dcterms:modified>
</cp:coreProperties>
</file>