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433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Tokenization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97180" y="8686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" y="868680"/>
            <a:ext cx="2697480" cy="38404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5" name="Text 3"/>
          <p:cNvSpPr/>
          <p:nvPr/>
        </p:nvSpPr>
        <p:spPr>
          <a:xfrm>
            <a:off x="388620" y="93268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7804" y="8686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Selection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" y="137160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9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deposits</a:t>
            </a:r>
            <a:endParaRPr lang="en-US" sz="9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products (HELOCs, private credit)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23260" y="8686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3260" y="868680"/>
            <a:ext cx="2697480" cy="38404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10" name="Text 8"/>
          <p:cNvSpPr/>
          <p:nvPr/>
        </p:nvSpPr>
        <p:spPr>
          <a:xfrm>
            <a:off x="3314700" y="93268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43884" y="8686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7852" y="13533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pricing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invest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rights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7852" y="1911096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BlackRock’s BUIDL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stable NAV per token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invest? 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qualified purchasers; $5mn minimum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Benefits? 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dividend accrual; usable as collateral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9340" y="8686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9340" y="868680"/>
            <a:ext cx="2697480" cy="38404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780" y="93268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69964" y="8686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3932" y="137160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Ethereum, Solana — open access, composability</a:t>
            </a:r>
            <a:endParaRPr lang="en-US" sz="9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permissioned: Canton, Provenance — controlled access, tailored governance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60220" y="29718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60220" y="2971800"/>
            <a:ext cx="2697480" cy="38404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1" name="Text 19"/>
          <p:cNvSpPr/>
          <p:nvPr/>
        </p:nvSpPr>
        <p:spPr>
          <a:xfrm>
            <a:off x="1851660" y="303580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80844" y="29718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&amp; Trading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4812" y="347472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issuance</a:t>
            </a:r>
            <a:endParaRPr lang="en-US" sz="9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ATS, CEX / DEX</a:t>
            </a:r>
            <a:endParaRPr lang="en-US" sz="9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transfers between whitelisted wallets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6300" y="29718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971800"/>
            <a:ext cx="2697480" cy="38404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6" name="Text 24"/>
          <p:cNvSpPr/>
          <p:nvPr/>
        </p:nvSpPr>
        <p:spPr>
          <a:xfrm>
            <a:off x="4777740" y="303580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6924" y="29718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456432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whitelisting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transfer rules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dividends, compliance reporting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50892" y="4123944"/>
            <a:ext cx="24048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BlackRock’s BUIDL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investor whitelist (KYC); monthly USDC dividends paid on-chain; programmatic compliance reporting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Credit: Current Market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331720"/>
            <a:ext cx="1234440" cy="77724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4" name="Text 2"/>
          <p:cNvSpPr/>
          <p:nvPr/>
        </p:nvSpPr>
        <p:spPr>
          <a:xfrm>
            <a:off x="484632" y="233172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04872" y="123444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via deposits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24612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32461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 Lender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facility funding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1783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23444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on balance sheet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retained to maturity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74320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74320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balance sheet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88620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388620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whole loans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3886200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Investors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20240" cy="233172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995160" y="1207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Investor-to-Investor Secondary Market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78040" y="1783080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2313432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2843784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V="1">
            <a:off x="1645920" y="1664208"/>
            <a:ext cx="685800" cy="10515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645920" y="2715768"/>
            <a:ext cx="685800" cy="9601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23360" y="1664208"/>
            <a:ext cx="6858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4023360" y="3108960"/>
            <a:ext cx="685800" cy="56692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23360" y="3675888"/>
            <a:ext cx="685800" cy="57607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4251960"/>
            <a:ext cx="5943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7909560" y="3886200"/>
            <a:ext cx="0" cy="457200"/>
          </a:xfrm>
          <a:prstGeom prst="line">
            <a:avLst/>
          </a:prstGeom>
          <a:noFill/>
          <a:ln w="22225">
            <a:solidFill>
              <a:srgbClr val="B91C1C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 Model: Blockchain-Native Lending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4173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149047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60704" y="1545336"/>
            <a:ext cx="621792" cy="621792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636776"/>
            <a:ext cx="438912" cy="201168"/>
          </a:xfrm>
          <a:prstGeom prst="triangle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37944"/>
            <a:ext cx="292608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22402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380+ partner originators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non-bank HELOC originator in the 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49047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23844" y="1545336"/>
            <a:ext cx="621792" cy="621792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9292" y="1636776"/>
            <a:ext cx="310896" cy="438912"/>
          </a:xfrm>
          <a:prstGeom prst="can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2724912" y="22402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on Provenance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2734056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Figure-operated blockchain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ledger: system of record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originator’s wallet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005840" cy="868680"/>
          </a:xfrm>
          <a:prstGeom prst="flowChartDecision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or sell?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64008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71323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46620" y="731520"/>
            <a:ext cx="457200" cy="45720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89632" y="788944"/>
            <a:ext cx="171176" cy="184343"/>
          </a:xfrm>
          <a:prstGeom prst="ellipse">
            <a:avLst/>
          </a:prstGeom>
          <a:ln w="2286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3546" y="933785"/>
            <a:ext cx="263347" cy="19751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12252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Short-Term Hold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financing vs. loan tokens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lock tokens: no double-pledging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counterparty risk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269748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77063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46620" y="2788920"/>
            <a:ext cx="457200" cy="45720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297461" y="2931932"/>
            <a:ext cx="355519" cy="171176"/>
          </a:xfrm>
          <a:prstGeom prst="leftRightArrow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32826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Connect — Loan Sale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36118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bids, standard docs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+~100bps to originator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settlement vs. ~5 days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Loan-level transparency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2537460"/>
            <a:ext cx="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17720" y="253746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49240" y="1554480"/>
            <a:ext cx="0" cy="5486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1554480"/>
            <a:ext cx="8686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49240" y="2971800"/>
            <a:ext cx="0" cy="5943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9240" y="3566160"/>
            <a:ext cx="8686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440680" y="17647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31272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on Figure: Warehouse Financing Mechanics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4173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149047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60704" y="1545336"/>
            <a:ext cx="621792" cy="621792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65506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22402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Needs Funding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34056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financing need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tokens pledged as collateral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41732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49047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23844" y="1545336"/>
            <a:ext cx="621792" cy="621792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9292" y="1645920"/>
            <a:ext cx="310896" cy="420624"/>
          </a:xfrm>
          <a:prstGeom prst="foldedCorner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22402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— Atomic Settlement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734056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originator &amp; warehouse lender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→ originator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tokens locked on-chain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005840" cy="868680"/>
          </a:xfrm>
          <a:prstGeom prst="flowChartDecision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repaid?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68580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75895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46620" y="777240"/>
            <a:ext cx="457200" cy="45720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36963" y="867583"/>
            <a:ext cx="276515" cy="276515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0" name="Text 18"/>
          <p:cNvSpPr/>
          <p:nvPr/>
        </p:nvSpPr>
        <p:spPr>
          <a:xfrm>
            <a:off x="6291072" y="127101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 — Tokens Released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releases automatically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return to originator’s wallet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2697480"/>
            <a:ext cx="2514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770632"/>
            <a:ext cx="256032" cy="256032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46620" y="2788920"/>
            <a:ext cx="457200" cy="45720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7212" y="2885846"/>
            <a:ext cx="316017" cy="289682"/>
          </a:xfrm>
          <a:prstGeom prst="triangle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792" dirty="0"/>
          </a:p>
        </p:txBody>
      </p:sp>
      <p:sp>
        <p:nvSpPr>
          <p:cNvPr id="26" name="Text 24"/>
          <p:cNvSpPr/>
          <p:nvPr/>
        </p:nvSpPr>
        <p:spPr>
          <a:xfrm>
            <a:off x="6291072" y="32826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Liquidation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transferred to warehouse lender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liquidates collateral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is code, not courts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31720" y="2537460"/>
            <a:ext cx="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17720" y="253746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49240" y="1554480"/>
            <a:ext cx="0" cy="5486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240" y="1554480"/>
            <a:ext cx="8686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49240" y="2971800"/>
            <a:ext cx="0" cy="5943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3566160"/>
            <a:ext cx="8686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440680" y="17647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680" y="31272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cannot be double-pledged or re-hypothecated while locked — counterparty risk is structurally removed, not just monitored.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on Figure: Warehouse Financing Mechanics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10312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1371600"/>
            <a:ext cx="210312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371600"/>
            <a:ext cx="210312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103120" cy="457200"/>
          </a:xfrm>
          <a:prstGeom prst="rect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20440" y="914400"/>
            <a:ext cx="2103120" cy="457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(Escrow)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914400"/>
            <a:ext cx="2103120" cy="457200"/>
          </a:xfrm>
          <a:prstGeom prst="rect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Lender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Pledges loan tokens as collateral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719072"/>
            <a:ext cx="9601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21508" y="160020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Advances warehouse funding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23560" y="2231136"/>
            <a:ext cx="9601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5984748" y="211226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70959" y="2193646"/>
            <a:ext cx="202082" cy="217627"/>
          </a:xfrm>
          <a:prstGeom prst="ellipse">
            <a:avLst/>
          </a:prstGeom>
          <a:ln w="26988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2364638"/>
            <a:ext cx="310896" cy="233172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615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Loan tokens locked in escrow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Receives funds instantly (T+0)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0320" y="2871216"/>
            <a:ext cx="9601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0" name="Text 18"/>
          <p:cNvSpPr/>
          <p:nvPr/>
        </p:nvSpPr>
        <p:spPr>
          <a:xfrm>
            <a:off x="2921508" y="275234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3218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— contract auto-executes one of two outcomes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5112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Repays principal + interest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0" y="3730752"/>
            <a:ext cx="9601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921508" y="361188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Tokens unlocked, returned to wallet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60320" y="4242816"/>
            <a:ext cx="9601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2921508" y="412394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F76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default: tokens transferred, collateral liquidated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23560" y="4242816"/>
            <a:ext cx="96012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984748" y="412394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91C1C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Locked collateral cannot be double-pledged or re-hypothecated — counterparty risk is removed by construction, not monitored.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459</Words>
  <Application>Microsoft Office PowerPoint</Application>
  <PresentationFormat>On-screen Show (16:9)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Tokenization</dc:title>
  <dc:subject>PptxGenJS Presentation</dc:subject>
  <dc:creator>Bernstein</dc:creator>
  <cp:lastModifiedBy>Sanskar Chindalia</cp:lastModifiedBy>
  <cp:revision>3</cp:revision>
  <dcterms:created xsi:type="dcterms:W3CDTF">2026-07-12T15:54:31Z</dcterms:created>
  <dcterms:modified xsi:type="dcterms:W3CDTF">2026-07-12T16:13:27Z</dcterms:modified>
</cp:coreProperties>
</file>