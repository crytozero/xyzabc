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Perps are a derivative on the share price, not a degraded share. Stock perp open interest ~$2.25bn mid-2026 vs ~$1.1trn US equity daily turnover.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Legal wrapper ranges from a UCC Article 8 entitlement (Backpack) through ADGM certificates (Coinbase, Binance) and Swiss-law tracker certificates or structured notes (Kraken, Ondo) to a Jersey debt security with no shareholder rights (Robinhood).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Solana dominates distribution (Kraken 87% of supply, Backpack 73% issuer share). Ondo claims ~70% share on $1B+ TVL. Robinhood runs a captive L2 with no lending venue, capping composability.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9 – Issuer-sponsored tokenization leads the next generation of market structure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4048" y="914400"/>
            <a:ext cx="22860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97480" y="914400"/>
            <a:ext cx="2999232" cy="502920"/>
          </a:xfrm>
          <a:prstGeom prst="rect">
            <a:avLst/>
          </a:prstGeom>
          <a:solidFill>
            <a:srgbClr val="C6A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24912" y="9144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Issuer-Sponsored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24144" y="914400"/>
            <a:ext cx="299923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51576" y="9144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Issued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50808" y="914400"/>
            <a:ext cx="2999232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78240" y="9144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Futures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449324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" y="14493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ownership of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144932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48590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72693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the share, true legal title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24144" y="144932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24144" y="148590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69864" y="172693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IOU on a share held elsewhere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50808" y="144932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50808" y="148590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172693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None; a cash-settled contract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084832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" y="20848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shareholder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97480" y="208483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97480" y="212140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236244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holders, real visibility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24144" y="208483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24144" y="212140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769864" y="236244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Holders invisible to the issuer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50808" y="208483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50808" y="212140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36244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holder base exists to see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2720340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" y="27203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97480" y="2720340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97480" y="2756916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743200" y="2997952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security itself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24144" y="2720340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24144" y="2756916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769864" y="2997952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wrapper, not the share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50808" y="2720340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50808" y="2756916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8F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796528" y="2997952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contract, not the share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3355848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9768" y="33558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benefit &amp; relationship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97480" y="3355848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97480" y="3392424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2743200" y="363346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investor ties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24144" y="3355848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24144" y="3392424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5769864" y="363346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excluded, no economics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750808" y="3355848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50808" y="3392424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796528" y="363346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issuer link, no capital raised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84048" y="3991356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9768" y="399135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 &amp; voting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697480" y="3991356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697480" y="4027932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9" name="Text 57"/>
          <p:cNvSpPr txBox="1"/>
          <p:nvPr/>
        </p:nvSpPr>
        <p:spPr>
          <a:xfrm>
            <a:off x="2743200" y="4268968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at the register, real-time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24144" y="3991356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24144" y="4027932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5769864" y="4268968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Pass-thru; voting often lost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750808" y="3991356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750808" y="4027932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8796528" y="4268968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voting; dividends via funding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84048" y="4626864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29768" y="46268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697480" y="462686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697480" y="466344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2743200" y="490447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atomic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24144" y="462686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724144" y="466344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5769864" y="490447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settles traditionally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750808" y="4626864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750808" y="4663440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8F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8796528" y="490447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Continuous; funding anchors price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84048" y="5262372"/>
            <a:ext cx="2286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29768" y="52623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custody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697480" y="526237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697480" y="529894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89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1" name="Text 79"/>
          <p:cNvSpPr txBox="1"/>
          <p:nvPr/>
        </p:nvSpPr>
        <p:spPr>
          <a:xfrm>
            <a:off x="2743200" y="553998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and FCA transfer agent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724144" y="526237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724144" y="529894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84" name="Text 82"/>
          <p:cNvSpPr txBox="1"/>
          <p:nvPr/>
        </p:nvSpPr>
        <p:spPr>
          <a:xfrm>
            <a:off x="5769864" y="553998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offshore / unregulated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750808" y="5262372"/>
            <a:ext cx="299923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750808" y="5298948"/>
            <a:ext cx="2999232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87" name="Text 85"/>
          <p:cNvSpPr txBox="1"/>
          <p:nvPr/>
        </p:nvSpPr>
        <p:spPr>
          <a:xfrm>
            <a:off x="8796528" y="5539984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offshore; SEC/CFTC reviewing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674620" y="886968"/>
            <a:ext cx="3044952" cy="5001768"/>
          </a:xfrm>
          <a:prstGeom prst="rect">
            <a:avLst/>
          </a:prstGeom>
          <a:ln w="15875">
            <a:solidFill>
              <a:srgbClr val="C6A42B"/>
            </a:solidFill>
            <a:prstDash val="dash"/>
          </a:ln>
        </p:spPr>
      </p:sp>
      <p:sp>
        <p:nvSpPr>
          <p:cNvPr id="89" name="Text 87"/>
          <p:cNvSpPr txBox="1"/>
          <p:nvPr/>
        </p:nvSpPr>
        <p:spPr>
          <a:xfrm>
            <a:off x="384048" y="5971032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Bernstein analysis. Amber denotes a neutral rather than adverse read: perpetuals sit outside the ownership stack rather than below it.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10 – Structure: what a holder actually owns differs materially across platforms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4048" y="914400"/>
            <a:ext cx="14173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914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56232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02152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9584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75504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02936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xStocks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48856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76288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22208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 GM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5560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22992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1449324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" y="14493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74520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(ADGM tokenization hub)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02152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7872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Holdings, Binance affiliate SPV (ADGM)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75504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21224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Assets (JE) Ltd, Jersey SPV, owned by Kraken's parent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8856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94576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 Securities, US broker-dealer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22208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67928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 Global Markets (BVI) Ltd, bankruptcy-remote SPV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195560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0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Assets (Jersey) Ltd, Jersey subsidiary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226771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" y="2267712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legally hold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0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74520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claim on a real share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02152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47872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certificate over the share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75504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21224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Swiss-law tracker certificate, creditor of issuer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48856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UCC Article 8 security entitlement, same as a brokerage share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522208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67928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Swiss-law structured note, first-priority interest plus collateral buffer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95560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41280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debt security, no shareholder rights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" y="3086100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768" y="3086100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0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74520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02152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47872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(via Nest Trading)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75504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21224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Maerki Baumann, InCore, Alpaca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48856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94576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Backpack's own regulated brokerage structure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522208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67928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US broker-dealers incl. Alpaca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195560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241280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broker-dealers; BitGo onchain custody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" y="3904488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" y="3904488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828800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874520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Vested (KYC'd) holders only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502152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547872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both directions, zero fees, default flow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175504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21224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investors only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48856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94576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on/off ramp to brokerage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522208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567928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Mint/redeem 24/5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0195560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241280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only, 120+ countries, US excluded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84048" y="4722876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29768" y="4722876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828800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874520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from Vested Holders only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502152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502152" y="4759452"/>
            <a:ext cx="16459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79" name="Text 77"/>
          <p:cNvSpPr txBox="1"/>
          <p:nvPr/>
        </p:nvSpPr>
        <p:spPr>
          <a:xfrm>
            <a:off x="3547872" y="5084613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175504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175504" y="4759452"/>
            <a:ext cx="16459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82" name="Text 80"/>
          <p:cNvSpPr txBox="1"/>
          <p:nvPr/>
        </p:nvSpPr>
        <p:spPr>
          <a:xfrm>
            <a:off x="5221224" y="5084613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848856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894576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shareholder rights per Article 8 (verify)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522208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567928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via Broadridge ProxyVote, 250+ tickers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0195560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195560" y="4759452"/>
            <a:ext cx="16459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0" y="5084613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84048" y="5541264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29768" y="55412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1828800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874520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Multiplier, balances unchanged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502152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547872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Multiplier, balance behaviour unclear in docs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175504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221224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Rebase, balance increases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848856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894576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through per entitlement (verify mechanism)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522208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567928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Rebase, balance increases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195560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241280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multiplier, balance static until redemption</a:t>
            </a:r>
            <a:endParaRPr lang="en-US" sz="850" dirty="0"/>
          </a:p>
        </p:txBody>
      </p:sp>
      <p:sp>
        <p:nvSpPr>
          <p:cNvPr id="104" name="Text 102"/>
          <p:cNvSpPr txBox="1"/>
          <p:nvPr/>
        </p:nvSpPr>
        <p:spPr>
          <a:xfrm>
            <a:off x="384048" y="6432804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Pink Brains (August 2026), company documentation, Bernstein analysis. Only Backpack delivers a UCC Article 8 entitlement equivalent to a brokerage share; the rest are claims on an SPV.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377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11 – Onchain footprint: distribution and liquidity are concentrating on a handful of chains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4048" y="914400"/>
            <a:ext cx="14173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914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56232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02152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9584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75504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02936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xStocks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48856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76288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22208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 GM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5560" y="914400"/>
            <a:ext cx="16459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22992" y="91440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1449324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" y="144932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74520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02152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7872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75504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21224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Solana, Ethereum, TON, Ink, other EVM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8856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94576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22208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67928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Ethereum, BNB Chain, Solana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195560" y="144932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0" y="144932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Chain (Arbitrum Orbit L2)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226771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" y="2267712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0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74520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 onchain day one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02152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47872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 AUM in 15 days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75504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21224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 cumulative volume, 87% of Solana supply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48856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$1.06B July volume, 73% Solana issuer share on 5% of supply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522208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67928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 TVL, ~70% market share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95560" y="226771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41280" y="226771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~$70M RWA onchain, ~$55M daily token volume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" y="3086100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768" y="3086100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liquidity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0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74520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Aerodrome, Uniswap; routing via 0x, 1inch, KyberSwap, CoW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02152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47872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PancakeSwap, Aster, Trust Wallet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75504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21224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Raydium (primary), Jupiter, Meteora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48856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94576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Jupiter, Raydium, Meteora via Sunrise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522208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67928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(Solana), just-in-time liquidity model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195560" y="3086100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241280" y="308610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Uniswap V4/V3 (~99% of stock-token liquidity), Pleiades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" y="3904488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" y="3904488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/ collateral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828800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874520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Aave, Morpho, Euler (listed at launch, params not public)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502152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547872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(TSLAB/NVDAB 60% CF, SPCXB 50%, borrow caps 0), Lista DAO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175504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21224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Kamino, Morpho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48856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94576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Kamino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522208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567928" y="390448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0195560" y="390448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195560" y="3941064"/>
            <a:ext cx="16459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✖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10241280" y="4266225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84048" y="4722876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29768" y="4722876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venue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828800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874520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Wasabi, DEFINITIVE, Bankr, Virtuals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502152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547872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Aster, Binance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175504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221224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Nado, Kraken, Hyperliquid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848856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894576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522208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567928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 Perps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195560" y="4722876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241280" y="472287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Lighter, Arcus, Robinhood App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84048" y="5541264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29768" y="5541264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infra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1828800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874520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Chainlink, LI.FI, Jumper, Beefy, ~50 apps total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502152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7872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Collateral page, daily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175504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221224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xStocks Alliance, LayerZero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848856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894576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(Wormhole-based)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8522208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567928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LayerZero cross-chain, Ankura attestations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10195560" y="5541264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241280" y="55412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Chainlink, BitGo, Alchemy</a:t>
            </a:r>
            <a:endParaRPr lang="en-US" sz="850" dirty="0"/>
          </a:p>
        </p:txBody>
      </p:sp>
      <p:sp>
        <p:nvSpPr>
          <p:cNvPr id="102" name="Text 100"/>
          <p:cNvSpPr txBox="1"/>
          <p:nvPr/>
        </p:nvSpPr>
        <p:spPr>
          <a:xfrm>
            <a:off x="384048" y="6432804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Pink Brains (August 2026), Bernstein analysis. Solana carries the majority of tokenized-equity liquidity; Robinhood is the only issuer with no lending market.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2026-08-26T05:06:45Z</dcterms:created>
  <dcterms:modified xsi:type="dcterms:W3CDTF">2026-08-26T05:06:45Z</dcterms:modified>
</cp:coreProperties>
</file>